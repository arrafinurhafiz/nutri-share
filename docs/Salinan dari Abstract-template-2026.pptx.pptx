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jqLJuDqKd4vK9P62dnDE1pONMt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Montserrat-regular.fntdata"/><Relationship Id="rId19" Type="http://schemas.openxmlformats.org/officeDocument/2006/relationships/font" Target="fonts/Montserrat-bold.fntdata"/><Relationship Id="rId20" Type="http://schemas.openxmlformats.org/officeDocument/2006/relationships/font" Target="fonts/Montserrat-italic.fntdata"/><Relationship Id="rId21" Type="http://schemas.openxmlformats.org/officeDocument/2006/relationships/font" Target="fonts/Montserrat-boldItalic.fntdata"/><Relationship Id="rId22" Type="http://schemas.openxmlformats.org/officeDocument/2006/relationships/font" Target="fonts/MontserratMedium-regular.fntdata"/><Relationship Id="rId23" Type="http://schemas.openxmlformats.org/officeDocument/2006/relationships/font" Target="fonts/MontserratMedium-bold.fntdata"/><Relationship Id="rId24" Type="http://schemas.openxmlformats.org/officeDocument/2006/relationships/font" Target="fonts/MontserratMedium-italic.fntdata"/><Relationship Id="rId25" Type="http://schemas.openxmlformats.org/officeDocument/2006/relationships/font" Target="fonts/MontserratMedium-boldItalic.fntdata"/><Relationship Id="rId2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01" name="Google Shape;101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2" name="Google Shape;102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17" name="Google Shape;117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8" name="Google Shape;118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21" name="Google Shape;121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30" name="Google Shape;130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1" name="Google Shape;131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43" name="Google Shape;143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4" name="Google Shape;144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6" name="Google Shape;156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7" name="Google Shape;157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69" name="Google Shape;169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0" name="Google Shape;170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83" name="Google Shape;183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4" name="Google Shape;184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b20065abc_0_10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b20065abc_0_1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b20065abc_0_1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7" name="Google Shape;207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10" name="Google Shape;210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19" name="Google Shape;219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0" name="Google Shape;220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23" name="Google Shape;223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31" name="Google Shape;231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2" name="Google Shape;232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3555399" y="152400"/>
            <a:ext cx="3612737" cy="1300544"/>
          </a:xfrm>
          <a:custGeom>
            <a:rect b="b" l="l" r="r" t="t"/>
            <a:pathLst>
              <a:path extrusionOk="0" h="1734058" w="4816983">
                <a:moveTo>
                  <a:pt x="0" y="0"/>
                </a:moveTo>
                <a:lnTo>
                  <a:pt x="4816983" y="0"/>
                </a:lnTo>
                <a:lnTo>
                  <a:pt x="4816983" y="1734058"/>
                </a:lnTo>
                <a:lnTo>
                  <a:pt x="0" y="1734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-809097" y="2596296"/>
            <a:ext cx="6356958" cy="6356958"/>
          </a:xfrm>
          <a:custGeom>
            <a:rect b="b" l="l" r="r" t="t"/>
            <a:pathLst>
              <a:path extrusionOk="0"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 txBox="1"/>
          <p:nvPr/>
        </p:nvSpPr>
        <p:spPr>
          <a:xfrm>
            <a:off x="4496324" y="2520096"/>
            <a:ext cx="9295352" cy="69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Team Name: SHAREVOLUTION-UTDI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598278" y="4731563"/>
            <a:ext cx="11091453" cy="69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A3D5C"/>
                </a:solidFill>
                <a:latin typeface="Calibri"/>
                <a:ea typeface="Calibri"/>
                <a:cs typeface="Calibri"/>
                <a:sym typeface="Calibri"/>
              </a:rPr>
              <a:t>Digital Innovation for Social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767127" y="5832500"/>
            <a:ext cx="12753746" cy="38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SDG 2 – Zero Hunger  |  SDG 3 – Good Health &amp; Well-being  |  SDG 12 – Responsible Consumption &amp; Production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4071528" y="3787121"/>
            <a:ext cx="10144954" cy="69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Name: NUTRI-SHARE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1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 txBox="1"/>
          <p:nvPr/>
        </p:nvSpPr>
        <p:spPr>
          <a:xfrm>
            <a:off x="6743471" y="441950"/>
            <a:ext cx="4801048" cy="636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085703" y="9590275"/>
            <a:ext cx="8396249" cy="347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Acknowledgement: Universitas Teknologi Digital Indonesia (UTDI), Yogyakarta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047071" y="4560046"/>
            <a:ext cx="4193848" cy="494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Nurul Layli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rPr b="1" i="1" lang="en-US" sz="1399" u="none" cap="none" strike="noStrike">
                <a:solidFill>
                  <a:srgbClr val="5555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Team Leader – System Analyst &amp; 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769101" y="8150000"/>
            <a:ext cx="2674649" cy="709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Arrafi Nur Hafiz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rPr b="1" i="1" lang="en-US" sz="1399" u="none" cap="none" strike="noStrike">
                <a:solidFill>
                  <a:srgbClr val="5555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System Architect &amp; Cloud Engineer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7844247" y="1711500"/>
            <a:ext cx="2599468" cy="2600420"/>
          </a:xfrm>
          <a:custGeom>
            <a:rect b="b" l="l" r="r" t="t"/>
            <a:pathLst>
              <a:path extrusionOk="0" h="3467227" w="3465957">
                <a:moveTo>
                  <a:pt x="0" y="0"/>
                </a:moveTo>
                <a:lnTo>
                  <a:pt x="3465957" y="0"/>
                </a:lnTo>
                <a:lnTo>
                  <a:pt x="3465957" y="3467227"/>
                </a:lnTo>
                <a:lnTo>
                  <a:pt x="0" y="3467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4250" r="-426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13555399" y="152400"/>
            <a:ext cx="3612737" cy="1300544"/>
          </a:xfrm>
          <a:custGeom>
            <a:rect b="b" l="l" r="r" t="t"/>
            <a:pathLst>
              <a:path extrusionOk="0" h="1734058" w="4816983">
                <a:moveTo>
                  <a:pt x="0" y="0"/>
                </a:moveTo>
                <a:lnTo>
                  <a:pt x="4816983" y="0"/>
                </a:lnTo>
                <a:lnTo>
                  <a:pt x="4816983" y="1734058"/>
                </a:lnTo>
                <a:lnTo>
                  <a:pt x="0" y="1734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" l="0" r="0" t="0"/>
            </a:stretch>
          </a:blipFill>
          <a:ln>
            <a:noFill/>
          </a:ln>
        </p:spPr>
      </p:sp>
      <p:pic>
        <p:nvPicPr>
          <p:cNvPr id="114" name="Google Shape;114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4263" y="5302412"/>
            <a:ext cx="2599500" cy="2599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28861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3"/>
          <p:cNvSpPr/>
          <p:nvPr/>
        </p:nvSpPr>
        <p:spPr>
          <a:xfrm>
            <a:off x="13555399" y="152400"/>
            <a:ext cx="3612737" cy="1300544"/>
          </a:xfrm>
          <a:custGeom>
            <a:rect b="b" l="l" r="r" t="t"/>
            <a:pathLst>
              <a:path extrusionOk="0" h="1734058" w="4816983">
                <a:moveTo>
                  <a:pt x="0" y="0"/>
                </a:moveTo>
                <a:lnTo>
                  <a:pt x="4816983" y="0"/>
                </a:lnTo>
                <a:lnTo>
                  <a:pt x="4816983" y="1734058"/>
                </a:lnTo>
                <a:lnTo>
                  <a:pt x="0" y="1734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0" r="0" t="0"/>
            </a:stretch>
          </a:blipFill>
          <a:ln>
            <a:noFill/>
          </a:ln>
        </p:spPr>
      </p:sp>
      <p:sp>
        <p:nvSpPr>
          <p:cNvPr id="125" name="Google Shape;125;p3"/>
          <p:cNvSpPr/>
          <p:nvPr/>
        </p:nvSpPr>
        <p:spPr>
          <a:xfrm>
            <a:off x="9172861" y="2971053"/>
            <a:ext cx="6666229" cy="5023747"/>
          </a:xfrm>
          <a:custGeom>
            <a:rect b="b" l="l" r="r" t="t"/>
            <a:pathLst>
              <a:path extrusionOk="0" h="5023747" w="6666229">
                <a:moveTo>
                  <a:pt x="0" y="0"/>
                </a:moveTo>
                <a:lnTo>
                  <a:pt x="6666229" y="0"/>
                </a:lnTo>
                <a:lnTo>
                  <a:pt x="6666229" y="5023747"/>
                </a:lnTo>
                <a:lnTo>
                  <a:pt x="0" y="5023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3"/>
          <p:cNvSpPr txBox="1"/>
          <p:nvPr/>
        </p:nvSpPr>
        <p:spPr>
          <a:xfrm>
            <a:off x="768448" y="1525353"/>
            <a:ext cx="4801048" cy="636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1088575" y="2403925"/>
            <a:ext cx="6758100" cy="7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Indonesia faces a serious paradox: amidst the abundance of wasted food, many people still suffer from malnutrition, meaning that despite the abundant surplus, hidden hunger still exists.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AutoNum type="arabicPeriod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Indonesia produces 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23-48 million tons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Loss &amp; Waste per year, causing economic losses 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Rp213-551 trillion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(BAPPENAS, 2021) is contrary to SDG 2 &amp; SDG 12.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AutoNum type="arabicPeriod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HoReKa sector in </a:t>
            </a:r>
            <a:r>
              <a:rPr lang="en-US" sz="21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Yogyakarta Special Region (DIY)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one of the largest contributors to food surpluses, while orphanages/social institutions are still experiencing "hidden hunger" (chronic malnutrition).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AutoNum type="arabicPeriod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redistribution platforms (Surplus Indonesian, Food Cycle, Garda Pangan) still use the system 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first-come-first-served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so that distribution is often not on target.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AutoNum type="arabicPeriod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 of the problem: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platform that integrates the Nutritional Adequacy Intake (AKG Permenkes No. 28/2019) into distribution decision-making.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just">
              <a:lnSpc>
                <a:spcPct val="11997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3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>
            <a:off x="13555399" y="152400"/>
            <a:ext cx="3612737" cy="1300544"/>
          </a:xfrm>
          <a:custGeom>
            <a:rect b="b" l="l" r="r" t="t"/>
            <a:pathLst>
              <a:path extrusionOk="0" h="1734058" w="4816983">
                <a:moveTo>
                  <a:pt x="0" y="0"/>
                </a:moveTo>
                <a:lnTo>
                  <a:pt x="4816983" y="0"/>
                </a:lnTo>
                <a:lnTo>
                  <a:pt x="4816983" y="1734058"/>
                </a:lnTo>
                <a:lnTo>
                  <a:pt x="0" y="1734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0" r="0" t="0"/>
            </a:stretch>
          </a:blipFill>
          <a:ln>
            <a:noFill/>
          </a:ln>
        </p:spPr>
      </p:sp>
      <p:sp>
        <p:nvSpPr>
          <p:cNvPr id="138" name="Google Shape;138;p4"/>
          <p:cNvSpPr txBox="1"/>
          <p:nvPr/>
        </p:nvSpPr>
        <p:spPr>
          <a:xfrm>
            <a:off x="7471475" y="2599100"/>
            <a:ext cx="7904400" cy="54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the most pressing global paradoxes: food is wasted while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820 million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people remain undernourished (Chaudhary et al., 2026).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Indonesia, this is compounded by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"hidden hunger"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micronutrient deficiency affecting children in orphanages and patients in shelters (Weffort &amp; Lamounier, 2024).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platforms (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CIRCLE, Food Bridge, Zero Waste Chain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connect donors with recipients in real-time, reducing error and accelerating coordination (Ranjbari et al., 2024; Amrutkar et al., 2024).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Gap: no platform uses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nutrition-based multi-criteria prioritisation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is what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NUTRI-SHARE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closes.</a:t>
            </a:r>
            <a:endParaRPr sz="2500">
              <a:solidFill>
                <a:srgbClr val="222222"/>
              </a:solidFill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768448" y="1525353"/>
            <a:ext cx="4405951" cy="636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4" title="ChatGPT Image Sep 3, 2026, 06_51_04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550" y="3422663"/>
            <a:ext cx="5956252" cy="375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44301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5"/>
          <p:cNvSpPr txBox="1"/>
          <p:nvPr/>
        </p:nvSpPr>
        <p:spPr>
          <a:xfrm>
            <a:off x="664521" y="2170576"/>
            <a:ext cx="15090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3555399" y="152400"/>
            <a:ext cx="3612737" cy="1300544"/>
          </a:xfrm>
          <a:custGeom>
            <a:rect b="b" l="l" r="r" t="t"/>
            <a:pathLst>
              <a:path extrusionOk="0" h="1734058" w="4816983">
                <a:moveTo>
                  <a:pt x="0" y="0"/>
                </a:moveTo>
                <a:lnTo>
                  <a:pt x="4816983" y="0"/>
                </a:lnTo>
                <a:lnTo>
                  <a:pt x="4816983" y="1734058"/>
                </a:lnTo>
                <a:lnTo>
                  <a:pt x="0" y="1734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0" r="0" t="0"/>
            </a:stretch>
          </a:blipFill>
          <a:ln>
            <a:noFill/>
          </a:ln>
        </p:spPr>
      </p:sp>
      <p:sp>
        <p:nvSpPr>
          <p:cNvPr id="152" name="Google Shape;152;p5"/>
          <p:cNvSpPr txBox="1"/>
          <p:nvPr/>
        </p:nvSpPr>
        <p:spPr>
          <a:xfrm>
            <a:off x="664521" y="1525353"/>
            <a:ext cx="4405951" cy="636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Survey: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5875" y="2626475"/>
            <a:ext cx="14039650" cy="664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-40024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6"/>
          <p:cNvSpPr/>
          <p:nvPr/>
        </p:nvSpPr>
        <p:spPr>
          <a:xfrm>
            <a:off x="13555399" y="152400"/>
            <a:ext cx="3612737" cy="1300544"/>
          </a:xfrm>
          <a:custGeom>
            <a:rect b="b" l="l" r="r" t="t"/>
            <a:pathLst>
              <a:path extrusionOk="0" h="1734058" w="4816983">
                <a:moveTo>
                  <a:pt x="0" y="0"/>
                </a:moveTo>
                <a:lnTo>
                  <a:pt x="4816983" y="0"/>
                </a:lnTo>
                <a:lnTo>
                  <a:pt x="4816983" y="1734058"/>
                </a:lnTo>
                <a:lnTo>
                  <a:pt x="0" y="1734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0" r="0" t="0"/>
            </a:stretch>
          </a:blipFill>
          <a:ln>
            <a:noFill/>
          </a:ln>
        </p:spPr>
      </p:sp>
      <p:sp>
        <p:nvSpPr>
          <p:cNvPr id="164" name="Google Shape;164;p6"/>
          <p:cNvSpPr/>
          <p:nvPr/>
        </p:nvSpPr>
        <p:spPr>
          <a:xfrm>
            <a:off x="8702440" y="3683636"/>
            <a:ext cx="7629409" cy="4595690"/>
          </a:xfrm>
          <a:custGeom>
            <a:rect b="b" l="l" r="r" t="t"/>
            <a:pathLst>
              <a:path extrusionOk="0" h="4595690" w="7629409">
                <a:moveTo>
                  <a:pt x="0" y="0"/>
                </a:moveTo>
                <a:lnTo>
                  <a:pt x="7629408" y="0"/>
                </a:lnTo>
                <a:lnTo>
                  <a:pt x="7629408" y="4595690"/>
                </a:lnTo>
                <a:lnTo>
                  <a:pt x="0" y="4595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6"/>
          <p:cNvSpPr txBox="1"/>
          <p:nvPr/>
        </p:nvSpPr>
        <p:spPr>
          <a:xfrm>
            <a:off x="823000" y="2238150"/>
            <a:ext cx="7439400" cy="7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NUTRI-SHARE: DSS based on nutrition, not just speed or location.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NUTRI-SHARE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web-based Decision Support System that prioritizes nutritional impact, not first come first served.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Entropy-TOPSIS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Shannon Entropy considers 5 criteria (nutritional density, health urgency, food suitability, location distance, aid history); TOPSIS ranks recipients objectively &amp; transparently.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highlight>
                  <a:schemeClr val="lt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AKG Integration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recipient entity is profiled according to Minister of Health Regulation No. 28/2019 to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 nutritional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gap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mechanism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priority score is calculated automatically when donations come in, notifications are sent to the top ranking recipients, with the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fallback to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next recipient if not responded to.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just">
              <a:lnSpc>
                <a:spcPct val="11999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66" name="Google Shape;166;p6"/>
          <p:cNvSpPr txBox="1"/>
          <p:nvPr/>
        </p:nvSpPr>
        <p:spPr>
          <a:xfrm>
            <a:off x="768448" y="1525353"/>
            <a:ext cx="4782150" cy="636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1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7"/>
          <p:cNvSpPr/>
          <p:nvPr/>
        </p:nvSpPr>
        <p:spPr>
          <a:xfrm>
            <a:off x="13555399" y="152400"/>
            <a:ext cx="3612737" cy="1300544"/>
          </a:xfrm>
          <a:custGeom>
            <a:rect b="b" l="l" r="r" t="t"/>
            <a:pathLst>
              <a:path extrusionOk="0" h="1734058" w="4816983">
                <a:moveTo>
                  <a:pt x="0" y="0"/>
                </a:moveTo>
                <a:lnTo>
                  <a:pt x="4816983" y="0"/>
                </a:lnTo>
                <a:lnTo>
                  <a:pt x="4816983" y="1734058"/>
                </a:lnTo>
                <a:lnTo>
                  <a:pt x="0" y="1734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0" r="0" t="0"/>
            </a:stretch>
          </a:blipFill>
          <a:ln>
            <a:noFill/>
          </a:ln>
        </p:spPr>
      </p:sp>
      <p:sp>
        <p:nvSpPr>
          <p:cNvPr id="177" name="Google Shape;177;p7"/>
          <p:cNvSpPr txBox="1"/>
          <p:nvPr/>
        </p:nvSpPr>
        <p:spPr>
          <a:xfrm>
            <a:off x="768448" y="1515828"/>
            <a:ext cx="7001246" cy="58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Prototype (if applicable):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768448" y="2238150"/>
            <a:ext cx="98000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0390" lvl="1" marL="326180" marR="0" rtl="0" algn="just">
              <a:lnSpc>
                <a:spcPct val="120000"/>
              </a:lnSpc>
              <a:spcBef>
                <a:spcPts val="400"/>
              </a:spcBef>
              <a:spcAft>
                <a:spcPts val="1200"/>
              </a:spcAft>
              <a:buClr>
                <a:srgbClr val="222222"/>
              </a:buClr>
              <a:buSzPts val="2100"/>
              <a:buFont typeface="Arial"/>
              <a:buChar char="•"/>
            </a:pPr>
            <a:r>
              <a:rPr sz="1900" b="1">
                <a:latin typeface="Times New Roman"/>
              </a:rPr>
              <a:t>• Core Hybrid Entropy-TOPSIS Engine — </a:t>
            </a:r>
            <a:r>
              <a:rPr sz="1700" b="0">
                <a:latin typeface="Times New Roman"/>
              </a:rPr>
              <a:t>Real-time multi-criteria DSS combining Shannon Entropy for objective dynamic weighting (wj) from data dispersion and TOPSIS for Euclidean relative closeness ranking (Vi) to the ideal solution (A+).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900" b="1">
                <a:latin typeface="Times New Roman"/>
              </a:rPr>
              <a:t>• Dynamic 5-Criteria Matrix &amp; AKG Profiling — </a:t>
            </a:r>
            <a:r>
              <a:rPr sz="1700" b="0">
                <a:latin typeface="Times New Roman"/>
              </a:rPr>
              <a:t>Automates decision matrix X_mxn matching surplus macros against AKG deficits (C1: Nutritional Gap per Permenkes 28/2019), C2: Vulnerability Urgency, C3: Dietary Fit, C4: Haversine Distance, and C5: Aid History Penalty.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900" b="1">
                <a:latin typeface="Times New Roman"/>
              </a:rPr>
              <a:t>• Full-Stack Web App with Automated Fallback — </a:t>
            </a:r>
            <a:r>
              <a:rPr sz="1700" b="0">
                <a:latin typeface="Times New Roman"/>
              </a:rPr>
              <a:t>FastAPI &amp; React 19 SPA featuring live DSS computation audits, exclusive priority claim windows for Rank #1 with automated fallback cascading, and interactive Leaflet GIS tracking.</a:t>
            </a:r>
          </a:p>
        </p:txBody>
      </p:sp>
      <p:pic>
        <p:nvPicPr>
          <p:cNvPr id="179" name="Google Shape;17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35548">
            <a:off x="13453575" y="1852700"/>
            <a:ext cx="3816375" cy="777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7"/>
          <p:cNvPicPr preferRelativeResize="0"/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 rot="-266860">
            <a:off x="10941401" y="1852699"/>
            <a:ext cx="3816375" cy="7778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8"/>
          <p:cNvSpPr/>
          <p:nvPr/>
        </p:nvSpPr>
        <p:spPr>
          <a:xfrm>
            <a:off x="13555399" y="152400"/>
            <a:ext cx="3612737" cy="1300544"/>
          </a:xfrm>
          <a:custGeom>
            <a:rect b="b" l="l" r="r" t="t"/>
            <a:pathLst>
              <a:path extrusionOk="0" h="1734058" w="4816983">
                <a:moveTo>
                  <a:pt x="0" y="0"/>
                </a:moveTo>
                <a:lnTo>
                  <a:pt x="4816983" y="0"/>
                </a:lnTo>
                <a:lnTo>
                  <a:pt x="4816983" y="1734058"/>
                </a:lnTo>
                <a:lnTo>
                  <a:pt x="0" y="1734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0" r="0" t="0"/>
            </a:stretch>
          </a:blipFill>
          <a:ln>
            <a:noFill/>
          </a:ln>
        </p:spPr>
      </p:sp>
      <p:sp>
        <p:nvSpPr>
          <p:cNvPr id="191" name="Google Shape;191;p8"/>
          <p:cNvSpPr/>
          <p:nvPr/>
        </p:nvSpPr>
        <p:spPr>
          <a:xfrm>
            <a:off x="10022054" y="1452953"/>
            <a:ext cx="4948945" cy="7699877"/>
          </a:xfrm>
          <a:custGeom>
            <a:rect b="b" l="l" r="r" t="t"/>
            <a:pathLst>
              <a:path extrusionOk="0" h="7699877" w="4948945">
                <a:moveTo>
                  <a:pt x="0" y="0"/>
                </a:moveTo>
                <a:lnTo>
                  <a:pt x="4948945" y="0"/>
                </a:lnTo>
                <a:lnTo>
                  <a:pt x="4948945" y="7699876"/>
                </a:lnTo>
                <a:lnTo>
                  <a:pt x="0" y="76998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-14260"/>
            </a:stretch>
          </a:blipFill>
          <a:ln>
            <a:noFill/>
          </a:ln>
        </p:spPr>
        <p:txBody>
          <a:bodyPr wrap="square"/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ADVANTAGES:</a:t>
            </a:r>
          </a:p>
          <a:p>
            <a:pPr>
              <a:spcAft>
                <a:spcPts val="800"/>
              </a:spcAft>
            </a:pPr>
            <a:r>
              <a:rPr sz="1700" b="1">
                <a:latin typeface="Times New Roman"/>
              </a:rPr>
              <a:t>  + Nutrition-Driven Fair Allocation: </a:t>
            </a:r>
            <a:r>
              <a:rPr sz="1600">
                <a:latin typeface="Times New Roman"/>
              </a:rPr>
              <a:t>Eliminates unfair First-Come-First-Served distribution using an objective multi-criteria DSS (Entropy-TOPSIS + AKG nutritional standards).</a:t>
            </a:r>
          </a:p>
          <a:p>
            <a:pPr>
              <a:spcAft>
                <a:spcPts val="800"/>
              </a:spcAft>
            </a:pPr>
            <a:r>
              <a:rPr sz="1700" b="1">
                <a:latin typeface="Times New Roman"/>
              </a:rPr>
              <a:t>  + Measurable Socio-Economic &amp; SDG Impact: </a:t>
            </a:r>
            <a:r>
              <a:rPr sz="1600">
                <a:latin typeface="Times New Roman"/>
              </a:rPr>
              <a:t>Directly targets Hidden Hunger and Food Waste reduction (SDG 2, 3, and 12) with verifiable metric reporting.</a:t>
            </a:r>
          </a:p>
          <a:p>
            <a:pPr>
              <a:spcAft>
                <a:spcPts val="800"/>
              </a:spcAft>
            </a:pPr>
            <a:r>
              <a:rPr sz="1700" b="1">
                <a:latin typeface="Times New Roman"/>
              </a:rPr>
              <a:t>  + End-to-End Traceability &amp; Engagement: </a:t>
            </a:r>
            <a:r>
              <a:rPr sz="1600">
                <a:latin typeface="Times New Roman"/>
              </a:rPr>
              <a:t>Real-time interactive routing via Leaflet maps, automated priority fallback, and donor gamification badges to encourage consistent participation.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2000" b="1">
                <a:latin typeface="Times New Roman"/>
              </a:rPr>
              <a:t>DISADVANTAGES &amp; MITIGATION:</a:t>
            </a:r>
          </a:p>
          <a:p>
            <a:pPr>
              <a:spcAft>
                <a:spcPts val="800"/>
              </a:spcAft>
            </a:pPr>
            <a:r>
              <a:rPr sz="1700" b="1">
                <a:latin typeface="Times New Roman"/>
              </a:rPr>
              <a:t>  - HoReCa Operational Dependency: </a:t>
            </a:r>
            <a:r>
              <a:rPr sz="1600">
                <a:latin typeface="Times New Roman"/>
              </a:rPr>
              <a:t>Relies on donor discipline to accurately input surplus food condition, preparation time, and nutritional parameters.</a:t>
            </a:r>
          </a:p>
          <a:p>
            <a:pPr>
              <a:spcAft>
                <a:spcPts val="800"/>
              </a:spcAft>
            </a:pPr>
            <a:r>
              <a:rPr sz="1700" b="1">
                <a:latin typeface="Times New Roman"/>
              </a:rPr>
              <a:t>  - Cold-Chain &amp; Time-Window Constraints: </a:t>
            </a:r>
            <a:r>
              <a:rPr sz="1600">
                <a:latin typeface="Times New Roman"/>
              </a:rPr>
              <a:t>Perishable high-protein cooked food requires rapid courier dispatch within tight safe-consumption windows (2-4 hours).</a:t>
            </a:r>
          </a:p>
        </p:txBody>
      </p:sp>
      <p:sp>
        <p:nvSpPr>
          <p:cNvPr id="192" name="Google Shape;192;p8"/>
          <p:cNvSpPr txBox="1"/>
          <p:nvPr/>
        </p:nvSpPr>
        <p:spPr>
          <a:xfrm>
            <a:off x="768448" y="1515828"/>
            <a:ext cx="700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 &amp; Disadvan</a:t>
            </a:r>
            <a:r>
              <a:rPr b="1" lang="en-US" sz="3600"/>
              <a:t>tages: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b20065abc_0_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g3fb20065abc_0_10"/>
          <p:cNvSpPr txBox="1"/>
          <p:nvPr/>
        </p:nvSpPr>
        <p:spPr>
          <a:xfrm>
            <a:off x="768448" y="1515828"/>
            <a:ext cx="700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/>
              <a:t>CONCLUSION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b20065abc_0_10"/>
          <p:cNvSpPr txBox="1"/>
          <p:nvPr/>
        </p:nvSpPr>
        <p:spPr>
          <a:xfrm flipH="1" rot="10800000">
            <a:off x="920850" y="5792620"/>
            <a:ext cx="700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b20065abc_0_10"/>
          <p:cNvSpPr txBox="1"/>
          <p:nvPr/>
        </p:nvSpPr>
        <p:spPr>
          <a:xfrm>
            <a:off x="768448" y="1515828"/>
            <a:ext cx="700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b20065abc_0_10"/>
          <p:cNvSpPr txBox="1"/>
          <p:nvPr/>
        </p:nvSpPr>
        <p:spPr>
          <a:xfrm>
            <a:off x="7769550" y="1731225"/>
            <a:ext cx="8701200" cy="6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NUTRI-SHARE transforms surplus food into a measurable social impact through an integrated, data-driven distribution system.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Solves two problems at once:</a:t>
            </a:r>
            <a:r>
              <a:rPr lang="en-US" sz="1800">
                <a:solidFill>
                  <a:schemeClr val="dk1"/>
                </a:solidFill>
              </a:rPr>
              <a:t> reduces food waste while improving access to nutritious food for vulnerable communities.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Creates measurable impact:</a:t>
            </a:r>
            <a:r>
              <a:rPr lang="en-US" sz="1800">
                <a:solidFill>
                  <a:schemeClr val="dk1"/>
                </a:solidFill>
              </a:rPr>
              <a:t> more surplus food can be redistributed, food waste is reduced, and more people gain access to nutritious meals.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Strengthens collaboration:</a:t>
            </a:r>
            <a:r>
              <a:rPr lang="en-US" sz="1800">
                <a:solidFill>
                  <a:schemeClr val="dk1"/>
                </a:solidFill>
              </a:rPr>
              <a:t> connects hotels, restaurants, government, NGOs, and communities in one integrated distribution ecosystem.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Supports sustainable development:</a:t>
            </a:r>
            <a:r>
              <a:rPr lang="en-US" sz="1800">
                <a:solidFill>
                  <a:schemeClr val="dk1"/>
                </a:solidFill>
              </a:rPr>
              <a:t> contributes directly to </a:t>
            </a:r>
            <a:r>
              <a:rPr b="1" lang="en-US" sz="1800">
                <a:solidFill>
                  <a:schemeClr val="dk1"/>
                </a:solidFill>
              </a:rPr>
              <a:t>SDG 2 (Zero Hunger)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b="1" lang="en-US" sz="1800">
                <a:solidFill>
                  <a:schemeClr val="dk1"/>
                </a:solidFill>
              </a:rPr>
              <a:t>SDG 3 (Good Health and Well-being)</a:t>
            </a:r>
            <a:r>
              <a:rPr lang="en-US" sz="1800">
                <a:solidFill>
                  <a:schemeClr val="dk1"/>
                </a:solidFill>
              </a:rPr>
              <a:t>, and </a:t>
            </a:r>
            <a:r>
              <a:rPr b="1" lang="en-US" sz="1800">
                <a:solidFill>
                  <a:schemeClr val="dk1"/>
                </a:solidFill>
              </a:rPr>
              <a:t>SDG 12 (Responsible Consumption and Production)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Real impact:</a:t>
            </a:r>
            <a:r>
              <a:rPr lang="en-US" sz="1800">
                <a:solidFill>
                  <a:schemeClr val="dk1"/>
                </a:solidFill>
              </a:rPr>
              <a:t> NUTRI-SHARE has the potential to create a sustainable food distribution model that is </a:t>
            </a:r>
            <a:r>
              <a:rPr b="1" lang="en-US" sz="1800">
                <a:solidFill>
                  <a:schemeClr val="dk1"/>
                </a:solidFill>
              </a:rPr>
              <a:t>scalable, transparent, and beneficial for both people and the environment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3810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In conclusion, NUTRI-SHARE is not only a food redistribution platform, but a sustainable solution that turns food surplus into nutrition, reduces waste, and creates a measurable positive impact on society.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g3fb20065abc_0_10" title="ChatGPT Image Sep 3, 2026, 07_50_22 PM.png"/>
          <p:cNvPicPr preferRelativeResize="0"/>
          <p:nvPr/>
        </p:nvPicPr>
        <p:blipFill rotWithShape="1">
          <a:blip r:embed="rId4">
            <a:alphaModFix/>
          </a:blip>
          <a:srcRect b="0" l="8090" r="8333" t="0"/>
          <a:stretch/>
        </p:blipFill>
        <p:spPr>
          <a:xfrm>
            <a:off x="398725" y="2867500"/>
            <a:ext cx="7235274" cy="577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9"/>
          <p:cNvSpPr/>
          <p:nvPr/>
        </p:nvSpPr>
        <p:spPr>
          <a:xfrm>
            <a:off x="13555399" y="152400"/>
            <a:ext cx="3612737" cy="1300544"/>
          </a:xfrm>
          <a:custGeom>
            <a:rect b="b" l="l" r="r" t="t"/>
            <a:pathLst>
              <a:path extrusionOk="0" h="1734058" w="4816983">
                <a:moveTo>
                  <a:pt x="0" y="0"/>
                </a:moveTo>
                <a:lnTo>
                  <a:pt x="4816983" y="0"/>
                </a:lnTo>
                <a:lnTo>
                  <a:pt x="4816983" y="1734058"/>
                </a:lnTo>
                <a:lnTo>
                  <a:pt x="0" y="1734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0" r="0" t="0"/>
            </a:stretch>
          </a:blipFill>
          <a:ln>
            <a:noFill/>
          </a:ln>
        </p:spPr>
      </p:sp>
      <p:sp>
        <p:nvSpPr>
          <p:cNvPr id="214" name="Google Shape;214;p9"/>
          <p:cNvSpPr/>
          <p:nvPr/>
        </p:nvSpPr>
        <p:spPr>
          <a:xfrm>
            <a:off x="768450" y="2100450"/>
            <a:ext cx="6674287" cy="6954572"/>
          </a:xfrm>
          <a:custGeom>
            <a:rect b="b" l="l" r="r" t="t"/>
            <a:pathLst>
              <a:path extrusionOk="0" h="7007125" w="7007125">
                <a:moveTo>
                  <a:pt x="0" y="0"/>
                </a:moveTo>
                <a:lnTo>
                  <a:pt x="7007126" y="0"/>
                </a:lnTo>
                <a:lnTo>
                  <a:pt x="7007126" y="7007125"/>
                </a:lnTo>
                <a:lnTo>
                  <a:pt x="0" y="7007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9"/>
          <p:cNvSpPr txBox="1"/>
          <p:nvPr/>
        </p:nvSpPr>
        <p:spPr>
          <a:xfrm>
            <a:off x="768448" y="1515828"/>
            <a:ext cx="3540747" cy="58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7906775" y="2081400"/>
            <a:ext cx="7605900" cy="78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NUTRI-SHARE: from mere food rescue to equitable distribution of nutrition.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paradigm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combines AKG standards and Hybrid Entropy-TOPSIS logic into a real-time digital platform, ensuring the highest nutritional value food surplus reaches the most vulnerable recipients.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solutions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addressing the food waste crisis (23-48 million tonnes/year) and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hunger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same time, it is technically mature, measurable, and ready to be implemented.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line with SDGs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support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2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(Zero Hunger),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3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(Health &amp; Wellness), and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12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(Responsible Consumption &amp; Production).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Scale-up potential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through the PKM-PI/PKM-PM scheme, government &amp; NGO partnerships, has the potential to become a national model for data and nutrition-based food distribution.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just">
              <a:lnSpc>
                <a:spcPct val="12002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0"/>
          <p:cNvSpPr txBox="1"/>
          <p:nvPr/>
        </p:nvSpPr>
        <p:spPr>
          <a:xfrm>
            <a:off x="768448" y="1515828"/>
            <a:ext cx="4894955" cy="58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768450" y="2100450"/>
            <a:ext cx="16973700" cy="75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0022" lvl="1" marL="36004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Aini, D.N. et al. (2024). Comparison of TOPSIS and SMARTER Methods in Selecting Delivery Services. IJATIS, 1(1), 30–40. doi: 10.57152/ijatis.v1i1.1139.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22" lvl="1" marL="36004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BAPPENAS. (2021). Food Loss and Waste di Indonesia. Jakarta: BAPPENAS.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22" lvl="1" marL="36004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Cao, X., Wei, C. and Xie, D. (2021). Evaluation of scale management suitability based on the Entropy-TOPSIS method. Land, 10(4). doi: 10.3390/land10040416.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22" lvl="1" marL="36004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Chaudhary, R., Kinkar, B. and Arya, B. (2026). Zero Waste Chain: A Smart Platform for Bridging Food Waste and Food Need. American Journal of Education and Evaluation Studies, 3(01).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22" lvl="1" marL="36004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Eitiveni, I. et al. (2025). Analysis of factors influencing use intention of food rescue applications: A case study of Surplus Indonesia. Sustainable Futures, 10. doi: 10.1016/j.sftr.2025.100948.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22" lvl="1" marL="36004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Lam, W.S., Lam, W.H. and Lee, P.F. (2026). Evaluation of Financial Risk Management Using Integrated Entropy-Weight TOPSIS Model. Journal of Risk and Financial Management, 19(2). doi: 10.3390/jrfm19020108.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22" lvl="1" marL="36004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Ranjbari, M. et al. (2024). Digitally enabled food sharing platforms towards effective waste management in a circular economy. Technovation, 130. doi: 10.1016/j.technovation.2023.102939.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22" lvl="1" marL="36004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Tzitiridou-Chatzopoulou, M. et al. (2024). Evaluating Malnutrition Practices Using Entropy-Weight and TOPSIS Method. Children, 11(8). doi: 10.3390/children11080903.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22" lvl="1" marL="36004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Weffort, V.R.S. and Lamounier, J.A. (2024). Hidden hunger a narrative review. Jornal de Pediatria, 100, S10–S17. doi: 10.1016/j.jped.2023.08.009.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22" lvl="1" marL="36004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Peraturan Menteri Kesehatan No. 28 Tahun 2019 tentang Angka Kecukupan Gizi yang Dianjurkan untuk Masyarakat Indonesia.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3555399" y="152400"/>
            <a:ext cx="3612737" cy="1300544"/>
          </a:xfrm>
          <a:custGeom>
            <a:rect b="b" l="l" r="r" t="t"/>
            <a:pathLst>
              <a:path extrusionOk="0" h="1734058" w="4816983">
                <a:moveTo>
                  <a:pt x="0" y="0"/>
                </a:moveTo>
                <a:lnTo>
                  <a:pt x="4816983" y="0"/>
                </a:lnTo>
                <a:lnTo>
                  <a:pt x="4816983" y="1734058"/>
                </a:lnTo>
                <a:lnTo>
                  <a:pt x="0" y="1734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1"/>
          <p:cNvSpPr txBox="1"/>
          <p:nvPr/>
        </p:nvSpPr>
        <p:spPr>
          <a:xfrm>
            <a:off x="3344904" y="4375204"/>
            <a:ext cx="6606149" cy="1569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00425D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