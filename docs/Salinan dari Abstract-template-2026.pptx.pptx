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</p:sldIdLst>
  <p:sldSz cy="10287000" cx="18288000"/>
  <p:notesSz cx="6858000" cy="9144000"/>
  <p:embeddedFontLst>
    <p:embeddedFont>
      <p:font typeface="Montserrat"/>
      <p:regular r:id="rId18"/>
      <p:bold r:id="rId19"/>
      <p:italic r:id="rId20"/>
      <p:boldItalic r:id="rId21"/>
    </p:embeddedFont>
    <p:embeddedFont>
      <p:font typeface="Montserrat Medium"/>
      <p:regular r:id="rId22"/>
      <p:bold r:id="rId23"/>
      <p:italic r:id="rId24"/>
      <p:boldItalic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26" roundtripDataSignature="AMtx7mjqLJuDqKd4vK9P62dnDE1pONMtd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font" Target="fonts/Montserrat-regular.fntdata"/><Relationship Id="rId19" Type="http://schemas.openxmlformats.org/officeDocument/2006/relationships/font" Target="fonts/Montserrat-bold.fntdata"/><Relationship Id="rId20" Type="http://schemas.openxmlformats.org/officeDocument/2006/relationships/font" Target="fonts/Montserrat-italic.fntdata"/><Relationship Id="rId21" Type="http://schemas.openxmlformats.org/officeDocument/2006/relationships/font" Target="fonts/Montserrat-boldItalic.fntdata"/><Relationship Id="rId22" Type="http://schemas.openxmlformats.org/officeDocument/2006/relationships/font" Target="fonts/MontserratMedium-regular.fntdata"/><Relationship Id="rId23" Type="http://schemas.openxmlformats.org/officeDocument/2006/relationships/font" Target="fonts/MontserratMedium-bold.fntdata"/><Relationship Id="rId24" Type="http://schemas.openxmlformats.org/officeDocument/2006/relationships/font" Target="fonts/MontserratMedium-italic.fntdata"/><Relationship Id="rId25" Type="http://schemas.openxmlformats.org/officeDocument/2006/relationships/font" Target="fonts/MontserratMedium-boldItalic.fntdata"/><Relationship Id="rId26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5180013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2857500" y="512763"/>
            <a:ext cx="3429000" cy="2566987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/>
          <p:nvPr>
            <p:ph idx="2" type="hdr"/>
          </p:nvPr>
        </p:nvSpPr>
        <p:spPr>
          <a:xfrm>
            <a:off x="0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sz="1200"/>
          </a:p>
        </p:txBody>
      </p:sp>
      <p:sp>
        <p:nvSpPr>
          <p:cNvPr id="86" name="Google Shape;86;p1:notes"/>
          <p:cNvSpPr txBox="1"/>
          <p:nvPr>
            <p:ph idx="10" type="dt"/>
          </p:nvPr>
        </p:nvSpPr>
        <p:spPr>
          <a:xfrm>
            <a:off x="5180013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1.7.2013</a:t>
            </a:r>
            <a:endParaRPr/>
          </a:p>
        </p:txBody>
      </p:sp>
      <p:sp>
        <p:nvSpPr>
          <p:cNvPr id="87" name="Google Shape;87;p1:notes"/>
          <p:cNvSpPr/>
          <p:nvPr>
            <p:ph idx="3" type="sldImg"/>
          </p:nvPr>
        </p:nvSpPr>
        <p:spPr>
          <a:xfrm>
            <a:off x="2857500" y="512763"/>
            <a:ext cx="3429000" cy="2566987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" name="Google Shape;88;p1:notes"/>
          <p:cNvSpPr txBox="1"/>
          <p:nvPr>
            <p:ph idx="1" type="body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9" name="Google Shape;89;p1:notes"/>
          <p:cNvSpPr txBox="1"/>
          <p:nvPr>
            <p:ph idx="11" type="ftr"/>
          </p:nvPr>
        </p:nvSpPr>
        <p:spPr>
          <a:xfrm>
            <a:off x="0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sz="1200"/>
          </a:p>
        </p:txBody>
      </p:sp>
      <p:sp>
        <p:nvSpPr>
          <p:cNvPr id="90" name="Google Shape;90;p1:notes"/>
          <p:cNvSpPr txBox="1"/>
          <p:nvPr>
            <p:ph idx="12" type="sldNum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:notes"/>
          <p:cNvSpPr txBox="1"/>
          <p:nvPr>
            <p:ph idx="2" type="hdr"/>
          </p:nvPr>
        </p:nvSpPr>
        <p:spPr>
          <a:xfrm>
            <a:off x="0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sz="1200"/>
          </a:p>
        </p:txBody>
      </p:sp>
      <p:sp>
        <p:nvSpPr>
          <p:cNvPr id="101" name="Google Shape;101;p2:notes"/>
          <p:cNvSpPr txBox="1"/>
          <p:nvPr>
            <p:ph idx="10" type="dt"/>
          </p:nvPr>
        </p:nvSpPr>
        <p:spPr>
          <a:xfrm>
            <a:off x="5180013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1.7.2013</a:t>
            </a:r>
            <a:endParaRPr/>
          </a:p>
        </p:txBody>
      </p:sp>
      <p:sp>
        <p:nvSpPr>
          <p:cNvPr id="102" name="Google Shape;102;p2:notes"/>
          <p:cNvSpPr/>
          <p:nvPr>
            <p:ph idx="3" type="sldImg"/>
          </p:nvPr>
        </p:nvSpPr>
        <p:spPr>
          <a:xfrm>
            <a:off x="2857500" y="512763"/>
            <a:ext cx="3429000" cy="2566987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3" name="Google Shape;103;p2:notes"/>
          <p:cNvSpPr txBox="1"/>
          <p:nvPr>
            <p:ph idx="1" type="body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4" name="Google Shape;104;p2:notes"/>
          <p:cNvSpPr txBox="1"/>
          <p:nvPr>
            <p:ph idx="11" type="ftr"/>
          </p:nvPr>
        </p:nvSpPr>
        <p:spPr>
          <a:xfrm>
            <a:off x="0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sz="1200"/>
          </a:p>
        </p:txBody>
      </p:sp>
      <p:sp>
        <p:nvSpPr>
          <p:cNvPr id="105" name="Google Shape;105;p2:notes"/>
          <p:cNvSpPr txBox="1"/>
          <p:nvPr>
            <p:ph idx="12" type="sldNum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3:notes"/>
          <p:cNvSpPr txBox="1"/>
          <p:nvPr>
            <p:ph idx="2" type="hdr"/>
          </p:nvPr>
        </p:nvSpPr>
        <p:spPr>
          <a:xfrm>
            <a:off x="0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sz="1200"/>
          </a:p>
        </p:txBody>
      </p:sp>
      <p:sp>
        <p:nvSpPr>
          <p:cNvPr id="117" name="Google Shape;117;p3:notes"/>
          <p:cNvSpPr txBox="1"/>
          <p:nvPr>
            <p:ph idx="10" type="dt"/>
          </p:nvPr>
        </p:nvSpPr>
        <p:spPr>
          <a:xfrm>
            <a:off x="5180013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1.7.2013</a:t>
            </a:r>
            <a:endParaRPr/>
          </a:p>
        </p:txBody>
      </p:sp>
      <p:sp>
        <p:nvSpPr>
          <p:cNvPr id="118" name="Google Shape;118;p3:notes"/>
          <p:cNvSpPr/>
          <p:nvPr>
            <p:ph idx="3" type="sldImg"/>
          </p:nvPr>
        </p:nvSpPr>
        <p:spPr>
          <a:xfrm>
            <a:off x="2857500" y="512763"/>
            <a:ext cx="3429000" cy="2566987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9" name="Google Shape;119;p3:notes"/>
          <p:cNvSpPr txBox="1"/>
          <p:nvPr>
            <p:ph idx="1" type="body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20" name="Google Shape;120;p3:notes"/>
          <p:cNvSpPr txBox="1"/>
          <p:nvPr>
            <p:ph idx="11" type="ftr"/>
          </p:nvPr>
        </p:nvSpPr>
        <p:spPr>
          <a:xfrm>
            <a:off x="0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sz="1200"/>
          </a:p>
        </p:txBody>
      </p:sp>
      <p:sp>
        <p:nvSpPr>
          <p:cNvPr id="121" name="Google Shape;121;p3:notes"/>
          <p:cNvSpPr txBox="1"/>
          <p:nvPr>
            <p:ph idx="12" type="sldNum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4:notes"/>
          <p:cNvSpPr txBox="1"/>
          <p:nvPr>
            <p:ph idx="2" type="hdr"/>
          </p:nvPr>
        </p:nvSpPr>
        <p:spPr>
          <a:xfrm>
            <a:off x="0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sz="1200"/>
          </a:p>
        </p:txBody>
      </p:sp>
      <p:sp>
        <p:nvSpPr>
          <p:cNvPr id="130" name="Google Shape;130;p4:notes"/>
          <p:cNvSpPr txBox="1"/>
          <p:nvPr>
            <p:ph idx="10" type="dt"/>
          </p:nvPr>
        </p:nvSpPr>
        <p:spPr>
          <a:xfrm>
            <a:off x="5180013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1.7.2013</a:t>
            </a:r>
            <a:endParaRPr/>
          </a:p>
        </p:txBody>
      </p:sp>
      <p:sp>
        <p:nvSpPr>
          <p:cNvPr id="131" name="Google Shape;131;p4:notes"/>
          <p:cNvSpPr/>
          <p:nvPr>
            <p:ph idx="3" type="sldImg"/>
          </p:nvPr>
        </p:nvSpPr>
        <p:spPr>
          <a:xfrm>
            <a:off x="2857500" y="512763"/>
            <a:ext cx="3429000" cy="2566987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4:notes"/>
          <p:cNvSpPr txBox="1"/>
          <p:nvPr>
            <p:ph idx="1" type="body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33" name="Google Shape;133;p4:notes"/>
          <p:cNvSpPr txBox="1"/>
          <p:nvPr>
            <p:ph idx="11" type="ftr"/>
          </p:nvPr>
        </p:nvSpPr>
        <p:spPr>
          <a:xfrm>
            <a:off x="0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sz="1200"/>
          </a:p>
        </p:txBody>
      </p:sp>
      <p:sp>
        <p:nvSpPr>
          <p:cNvPr id="134" name="Google Shape;134;p4:notes"/>
          <p:cNvSpPr txBox="1"/>
          <p:nvPr>
            <p:ph idx="12" type="sldNum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5:notes"/>
          <p:cNvSpPr txBox="1"/>
          <p:nvPr>
            <p:ph idx="2" type="hdr"/>
          </p:nvPr>
        </p:nvSpPr>
        <p:spPr>
          <a:xfrm>
            <a:off x="0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sz="1200"/>
          </a:p>
        </p:txBody>
      </p:sp>
      <p:sp>
        <p:nvSpPr>
          <p:cNvPr id="143" name="Google Shape;143;p5:notes"/>
          <p:cNvSpPr txBox="1"/>
          <p:nvPr>
            <p:ph idx="10" type="dt"/>
          </p:nvPr>
        </p:nvSpPr>
        <p:spPr>
          <a:xfrm>
            <a:off x="5180013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1.7.2013</a:t>
            </a:r>
            <a:endParaRPr/>
          </a:p>
        </p:txBody>
      </p:sp>
      <p:sp>
        <p:nvSpPr>
          <p:cNvPr id="144" name="Google Shape;144;p5:notes"/>
          <p:cNvSpPr/>
          <p:nvPr>
            <p:ph idx="3" type="sldImg"/>
          </p:nvPr>
        </p:nvSpPr>
        <p:spPr>
          <a:xfrm>
            <a:off x="2857500" y="512763"/>
            <a:ext cx="3429000" cy="2566987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5" name="Google Shape;145;p5:notes"/>
          <p:cNvSpPr txBox="1"/>
          <p:nvPr>
            <p:ph idx="1" type="body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46" name="Google Shape;146;p5:notes"/>
          <p:cNvSpPr txBox="1"/>
          <p:nvPr>
            <p:ph idx="11" type="ftr"/>
          </p:nvPr>
        </p:nvSpPr>
        <p:spPr>
          <a:xfrm>
            <a:off x="0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sz="1200"/>
          </a:p>
        </p:txBody>
      </p:sp>
      <p:sp>
        <p:nvSpPr>
          <p:cNvPr id="147" name="Google Shape;147;p5:notes"/>
          <p:cNvSpPr txBox="1"/>
          <p:nvPr>
            <p:ph idx="12" type="sldNum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6:notes"/>
          <p:cNvSpPr txBox="1"/>
          <p:nvPr>
            <p:ph idx="2" type="hdr"/>
          </p:nvPr>
        </p:nvSpPr>
        <p:spPr>
          <a:xfrm>
            <a:off x="0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sz="1200"/>
          </a:p>
        </p:txBody>
      </p:sp>
      <p:sp>
        <p:nvSpPr>
          <p:cNvPr id="156" name="Google Shape;156;p6:notes"/>
          <p:cNvSpPr txBox="1"/>
          <p:nvPr>
            <p:ph idx="10" type="dt"/>
          </p:nvPr>
        </p:nvSpPr>
        <p:spPr>
          <a:xfrm>
            <a:off x="5180013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1.7.2013</a:t>
            </a:r>
            <a:endParaRPr/>
          </a:p>
        </p:txBody>
      </p:sp>
      <p:sp>
        <p:nvSpPr>
          <p:cNvPr id="157" name="Google Shape;157;p6:notes"/>
          <p:cNvSpPr/>
          <p:nvPr>
            <p:ph idx="3" type="sldImg"/>
          </p:nvPr>
        </p:nvSpPr>
        <p:spPr>
          <a:xfrm>
            <a:off x="2857500" y="512763"/>
            <a:ext cx="3429000" cy="2566987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8" name="Google Shape;158;p6:notes"/>
          <p:cNvSpPr txBox="1"/>
          <p:nvPr>
            <p:ph idx="1" type="body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59" name="Google Shape;159;p6:notes"/>
          <p:cNvSpPr txBox="1"/>
          <p:nvPr>
            <p:ph idx="11" type="ftr"/>
          </p:nvPr>
        </p:nvSpPr>
        <p:spPr>
          <a:xfrm>
            <a:off x="0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sz="1200"/>
          </a:p>
        </p:txBody>
      </p:sp>
      <p:sp>
        <p:nvSpPr>
          <p:cNvPr id="160" name="Google Shape;160;p6:notes"/>
          <p:cNvSpPr txBox="1"/>
          <p:nvPr>
            <p:ph idx="12" type="sldNum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7:notes"/>
          <p:cNvSpPr txBox="1"/>
          <p:nvPr>
            <p:ph idx="2" type="hdr"/>
          </p:nvPr>
        </p:nvSpPr>
        <p:spPr>
          <a:xfrm>
            <a:off x="0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sz="1200"/>
          </a:p>
        </p:txBody>
      </p:sp>
      <p:sp>
        <p:nvSpPr>
          <p:cNvPr id="169" name="Google Shape;169;p7:notes"/>
          <p:cNvSpPr txBox="1"/>
          <p:nvPr>
            <p:ph idx="10" type="dt"/>
          </p:nvPr>
        </p:nvSpPr>
        <p:spPr>
          <a:xfrm>
            <a:off x="5180013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1.7.2013</a:t>
            </a:r>
            <a:endParaRPr/>
          </a:p>
        </p:txBody>
      </p:sp>
      <p:sp>
        <p:nvSpPr>
          <p:cNvPr id="170" name="Google Shape;170;p7:notes"/>
          <p:cNvSpPr/>
          <p:nvPr>
            <p:ph idx="3" type="sldImg"/>
          </p:nvPr>
        </p:nvSpPr>
        <p:spPr>
          <a:xfrm>
            <a:off x="2857500" y="512763"/>
            <a:ext cx="3429000" cy="2566987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1" name="Google Shape;171;p7:notes"/>
          <p:cNvSpPr txBox="1"/>
          <p:nvPr>
            <p:ph idx="1" type="body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72" name="Google Shape;172;p7:notes"/>
          <p:cNvSpPr txBox="1"/>
          <p:nvPr>
            <p:ph idx="11" type="ftr"/>
          </p:nvPr>
        </p:nvSpPr>
        <p:spPr>
          <a:xfrm>
            <a:off x="0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sz="1200"/>
          </a:p>
        </p:txBody>
      </p:sp>
      <p:sp>
        <p:nvSpPr>
          <p:cNvPr id="173" name="Google Shape;173;p7:notes"/>
          <p:cNvSpPr txBox="1"/>
          <p:nvPr>
            <p:ph idx="12" type="sldNum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8:notes"/>
          <p:cNvSpPr txBox="1"/>
          <p:nvPr>
            <p:ph idx="2" type="hdr"/>
          </p:nvPr>
        </p:nvSpPr>
        <p:spPr>
          <a:xfrm>
            <a:off x="0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sz="1200"/>
          </a:p>
        </p:txBody>
      </p:sp>
      <p:sp>
        <p:nvSpPr>
          <p:cNvPr id="183" name="Google Shape;183;p8:notes"/>
          <p:cNvSpPr txBox="1"/>
          <p:nvPr>
            <p:ph idx="10" type="dt"/>
          </p:nvPr>
        </p:nvSpPr>
        <p:spPr>
          <a:xfrm>
            <a:off x="5180013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1.7.2013</a:t>
            </a:r>
            <a:endParaRPr/>
          </a:p>
        </p:txBody>
      </p:sp>
      <p:sp>
        <p:nvSpPr>
          <p:cNvPr id="184" name="Google Shape;184;p8:notes"/>
          <p:cNvSpPr/>
          <p:nvPr>
            <p:ph idx="3" type="sldImg"/>
          </p:nvPr>
        </p:nvSpPr>
        <p:spPr>
          <a:xfrm>
            <a:off x="2857500" y="512763"/>
            <a:ext cx="3429000" cy="2566987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5" name="Google Shape;185;p8:notes"/>
          <p:cNvSpPr txBox="1"/>
          <p:nvPr>
            <p:ph idx="1" type="body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86" name="Google Shape;186;p8:notes"/>
          <p:cNvSpPr txBox="1"/>
          <p:nvPr>
            <p:ph idx="11" type="ftr"/>
          </p:nvPr>
        </p:nvSpPr>
        <p:spPr>
          <a:xfrm>
            <a:off x="0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sz="1200"/>
          </a:p>
        </p:txBody>
      </p:sp>
      <p:sp>
        <p:nvSpPr>
          <p:cNvPr id="187" name="Google Shape;187;p8:notes"/>
          <p:cNvSpPr txBox="1"/>
          <p:nvPr>
            <p:ph idx="12" type="sldNum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fb20065abc_0_10:notes"/>
          <p:cNvSpPr/>
          <p:nvPr>
            <p:ph idx="2" type="sldImg"/>
          </p:nvPr>
        </p:nvSpPr>
        <p:spPr>
          <a:xfrm>
            <a:off x="2857500" y="512763"/>
            <a:ext cx="3429000" cy="2567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3fb20065abc_0_10:notes"/>
          <p:cNvSpPr txBox="1"/>
          <p:nvPr>
            <p:ph idx="1" type="body"/>
          </p:nvPr>
        </p:nvSpPr>
        <p:spPr>
          <a:xfrm>
            <a:off x="914400" y="3251200"/>
            <a:ext cx="7315200" cy="30813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g3fb20065abc_0_10:notes"/>
          <p:cNvSpPr txBox="1"/>
          <p:nvPr>
            <p:ph idx="12" type="sldNum"/>
          </p:nvPr>
        </p:nvSpPr>
        <p:spPr>
          <a:xfrm>
            <a:off x="5180013" y="6502400"/>
            <a:ext cx="3962400" cy="3414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9:notes"/>
          <p:cNvSpPr txBox="1"/>
          <p:nvPr>
            <p:ph idx="2" type="hdr"/>
          </p:nvPr>
        </p:nvSpPr>
        <p:spPr>
          <a:xfrm>
            <a:off x="0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sz="1200"/>
          </a:p>
        </p:txBody>
      </p:sp>
      <p:sp>
        <p:nvSpPr>
          <p:cNvPr id="206" name="Google Shape;206;p9:notes"/>
          <p:cNvSpPr txBox="1"/>
          <p:nvPr>
            <p:ph idx="10" type="dt"/>
          </p:nvPr>
        </p:nvSpPr>
        <p:spPr>
          <a:xfrm>
            <a:off x="5180013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1.7.2013</a:t>
            </a:r>
            <a:endParaRPr/>
          </a:p>
        </p:txBody>
      </p:sp>
      <p:sp>
        <p:nvSpPr>
          <p:cNvPr id="207" name="Google Shape;207;p9:notes"/>
          <p:cNvSpPr/>
          <p:nvPr>
            <p:ph idx="3" type="sldImg"/>
          </p:nvPr>
        </p:nvSpPr>
        <p:spPr>
          <a:xfrm>
            <a:off x="2857500" y="512763"/>
            <a:ext cx="3429000" cy="2566987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8" name="Google Shape;208;p9:notes"/>
          <p:cNvSpPr txBox="1"/>
          <p:nvPr>
            <p:ph idx="1" type="body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09" name="Google Shape;209;p9:notes"/>
          <p:cNvSpPr txBox="1"/>
          <p:nvPr>
            <p:ph idx="11" type="ftr"/>
          </p:nvPr>
        </p:nvSpPr>
        <p:spPr>
          <a:xfrm>
            <a:off x="0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sz="1200"/>
          </a:p>
        </p:txBody>
      </p:sp>
      <p:sp>
        <p:nvSpPr>
          <p:cNvPr id="210" name="Google Shape;210;p9:notes"/>
          <p:cNvSpPr txBox="1"/>
          <p:nvPr>
            <p:ph idx="12" type="sldNum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10:notes"/>
          <p:cNvSpPr txBox="1"/>
          <p:nvPr>
            <p:ph idx="2" type="hdr"/>
          </p:nvPr>
        </p:nvSpPr>
        <p:spPr>
          <a:xfrm>
            <a:off x="0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sz="1200"/>
          </a:p>
        </p:txBody>
      </p:sp>
      <p:sp>
        <p:nvSpPr>
          <p:cNvPr id="219" name="Google Shape;219;p10:notes"/>
          <p:cNvSpPr txBox="1"/>
          <p:nvPr>
            <p:ph idx="10" type="dt"/>
          </p:nvPr>
        </p:nvSpPr>
        <p:spPr>
          <a:xfrm>
            <a:off x="5180013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1.7.2013</a:t>
            </a:r>
            <a:endParaRPr/>
          </a:p>
        </p:txBody>
      </p:sp>
      <p:sp>
        <p:nvSpPr>
          <p:cNvPr id="220" name="Google Shape;220;p10:notes"/>
          <p:cNvSpPr/>
          <p:nvPr>
            <p:ph idx="3" type="sldImg"/>
          </p:nvPr>
        </p:nvSpPr>
        <p:spPr>
          <a:xfrm>
            <a:off x="2857500" y="512763"/>
            <a:ext cx="3429000" cy="2566987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1" name="Google Shape;221;p10:notes"/>
          <p:cNvSpPr txBox="1"/>
          <p:nvPr>
            <p:ph idx="1" type="body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22" name="Google Shape;222;p10:notes"/>
          <p:cNvSpPr txBox="1"/>
          <p:nvPr>
            <p:ph idx="11" type="ftr"/>
          </p:nvPr>
        </p:nvSpPr>
        <p:spPr>
          <a:xfrm>
            <a:off x="0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sz="1200"/>
          </a:p>
        </p:txBody>
      </p:sp>
      <p:sp>
        <p:nvSpPr>
          <p:cNvPr id="223" name="Google Shape;223;p10:notes"/>
          <p:cNvSpPr txBox="1"/>
          <p:nvPr>
            <p:ph idx="12" type="sldNum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11:notes"/>
          <p:cNvSpPr txBox="1"/>
          <p:nvPr>
            <p:ph idx="2" type="hdr"/>
          </p:nvPr>
        </p:nvSpPr>
        <p:spPr>
          <a:xfrm>
            <a:off x="0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sz="1200"/>
          </a:p>
        </p:txBody>
      </p:sp>
      <p:sp>
        <p:nvSpPr>
          <p:cNvPr id="231" name="Google Shape;231;p11:notes"/>
          <p:cNvSpPr txBox="1"/>
          <p:nvPr>
            <p:ph idx="10" type="dt"/>
          </p:nvPr>
        </p:nvSpPr>
        <p:spPr>
          <a:xfrm>
            <a:off x="5180013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1.7.2013</a:t>
            </a:r>
            <a:endParaRPr/>
          </a:p>
        </p:txBody>
      </p:sp>
      <p:sp>
        <p:nvSpPr>
          <p:cNvPr id="232" name="Google Shape;232;p11:notes"/>
          <p:cNvSpPr/>
          <p:nvPr>
            <p:ph idx="3" type="sldImg"/>
          </p:nvPr>
        </p:nvSpPr>
        <p:spPr>
          <a:xfrm>
            <a:off x="2857500" y="512763"/>
            <a:ext cx="3429000" cy="2566987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3" name="Google Shape;233;p11:notes"/>
          <p:cNvSpPr txBox="1"/>
          <p:nvPr>
            <p:ph idx="1" type="body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34" name="Google Shape;234;p11:notes"/>
          <p:cNvSpPr txBox="1"/>
          <p:nvPr>
            <p:ph idx="11" type="ftr"/>
          </p:nvPr>
        </p:nvSpPr>
        <p:spPr>
          <a:xfrm>
            <a:off x="0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sz="1200"/>
          </a:p>
        </p:txBody>
      </p:sp>
      <p:sp>
        <p:nvSpPr>
          <p:cNvPr id="235" name="Google Shape;235;p11:notes"/>
          <p:cNvSpPr txBox="1"/>
          <p:nvPr>
            <p:ph idx="12" type="sldNum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1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4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4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2" name="Google Shape;22;p1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1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5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" name="Google Shape;28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6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16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4" name="Google Shape;34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7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40" name="Google Shape;40;p17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41" name="Google Shape;41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18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7" name="Google Shape;47;p18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8" name="Google Shape;48;p18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9" name="Google Shape;49;p18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50" name="Google Shape;50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0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0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20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2" name="Google Shape;62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1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1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21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9" name="Google Shape;69;p2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2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22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2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2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3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23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2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2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2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" name="Google Shape;11;p12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1.png"/><Relationship Id="rId5" Type="http://schemas.openxmlformats.org/officeDocument/2006/relationships/image" Target="../media/image9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15.png"/><Relationship Id="rId5" Type="http://schemas.openxmlformats.org/officeDocument/2006/relationships/image" Target="../media/image1.png"/><Relationship Id="rId6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1.png"/><Relationship Id="rId5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1.png"/><Relationship Id="rId5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1.png"/><Relationship Id="rId5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1.png"/><Relationship Id="rId5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1.png"/><Relationship Id="rId5" Type="http://schemas.openxmlformats.org/officeDocument/2006/relationships/image" Target="../media/image7.png"/><Relationship Id="rId6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Relationship Id="rId4" Type="http://schemas.openxmlformats.org/officeDocument/2006/relationships/image" Target="../media/image1.png"/><Relationship Id="rId5" Type="http://schemas.openxmlformats.org/officeDocument/2006/relationships/image" Target="../media/image1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Relationship Id="rId4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Relationship Id="rId4" Type="http://schemas.openxmlformats.org/officeDocument/2006/relationships/image" Target="../media/image1.png"/><Relationship Id="rId5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"/>
          <p:cNvSpPr/>
          <p:nvPr/>
        </p:nvSpPr>
        <p:spPr>
          <a:xfrm>
            <a:off x="0" y="0"/>
            <a:ext cx="18288000" cy="10287000"/>
          </a:xfrm>
          <a:custGeom>
            <a:rect b="b" l="l" r="r" t="t"/>
            <a:pathLst>
              <a:path extrusionOk="0" h="13716000" w="24384000">
                <a:moveTo>
                  <a:pt x="0" y="0"/>
                </a:moveTo>
                <a:lnTo>
                  <a:pt x="24384000" y="0"/>
                </a:lnTo>
                <a:lnTo>
                  <a:pt x="24384000" y="13716000"/>
                </a:lnTo>
                <a:lnTo>
                  <a:pt x="0" y="13716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93" name="Google Shape;93;p1"/>
          <p:cNvSpPr/>
          <p:nvPr/>
        </p:nvSpPr>
        <p:spPr>
          <a:xfrm>
            <a:off x="13555399" y="152400"/>
            <a:ext cx="3612737" cy="1300544"/>
          </a:xfrm>
          <a:custGeom>
            <a:rect b="b" l="l" r="r" t="t"/>
            <a:pathLst>
              <a:path extrusionOk="0" h="1734058" w="4816983">
                <a:moveTo>
                  <a:pt x="0" y="0"/>
                </a:moveTo>
                <a:lnTo>
                  <a:pt x="4816983" y="0"/>
                </a:lnTo>
                <a:lnTo>
                  <a:pt x="4816983" y="1734058"/>
                </a:lnTo>
                <a:lnTo>
                  <a:pt x="0" y="173405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-2" l="0" r="0" t="0"/>
            </a:stretch>
          </a:blipFill>
          <a:ln>
            <a:noFill/>
          </a:ln>
        </p:spPr>
      </p:sp>
      <p:sp>
        <p:nvSpPr>
          <p:cNvPr id="94" name="Google Shape;94;p1"/>
          <p:cNvSpPr/>
          <p:nvPr/>
        </p:nvSpPr>
        <p:spPr>
          <a:xfrm>
            <a:off x="-809097" y="2596296"/>
            <a:ext cx="6356958" cy="6356958"/>
          </a:xfrm>
          <a:custGeom>
            <a:rect b="b" l="l" r="r" t="t"/>
            <a:pathLst>
              <a:path extrusionOk="0" h="6356958" w="6356958">
                <a:moveTo>
                  <a:pt x="0" y="0"/>
                </a:moveTo>
                <a:lnTo>
                  <a:pt x="6356958" y="0"/>
                </a:lnTo>
                <a:lnTo>
                  <a:pt x="6356958" y="6356958"/>
                </a:lnTo>
                <a:lnTo>
                  <a:pt x="0" y="635695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95" name="Google Shape;95;p1"/>
          <p:cNvSpPr txBox="1"/>
          <p:nvPr/>
        </p:nvSpPr>
        <p:spPr>
          <a:xfrm>
            <a:off x="4496324" y="2520096"/>
            <a:ext cx="9295352" cy="69375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i="0" lang="en-US" sz="4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Team Name: SHAREVOLUTION-UTDI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"/>
          <p:cNvSpPr txBox="1"/>
          <p:nvPr/>
        </p:nvSpPr>
        <p:spPr>
          <a:xfrm>
            <a:off x="3598278" y="4731563"/>
            <a:ext cx="11091453" cy="69375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i="0" lang="en-US" sz="4000" u="none" cap="none" strike="noStrike">
                <a:solidFill>
                  <a:srgbClr val="0A3D5C"/>
                </a:solidFill>
                <a:latin typeface="Calibri"/>
                <a:ea typeface="Calibri"/>
                <a:cs typeface="Calibri"/>
                <a:sym typeface="Calibri"/>
              </a:rPr>
              <a:t>Digital Innovation for Social Impact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"/>
          <p:cNvSpPr txBox="1"/>
          <p:nvPr/>
        </p:nvSpPr>
        <p:spPr>
          <a:xfrm>
            <a:off x="2767127" y="5832500"/>
            <a:ext cx="12753746" cy="3879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0" i="0" lang="en-US" sz="2200" u="none" cap="none" strike="noStrike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SDG 2 – Zero Hunger  |  SDG 3 – Good Health &amp; Well-being  |  SDG 12 – Responsible Consumption &amp; Production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"/>
          <p:cNvSpPr txBox="1"/>
          <p:nvPr/>
        </p:nvSpPr>
        <p:spPr>
          <a:xfrm>
            <a:off x="4071528" y="3787121"/>
            <a:ext cx="10144954" cy="69375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i="0" lang="en-US" sz="4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Project Name: NUTRI-SHARE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"/>
          <p:cNvSpPr/>
          <p:nvPr/>
        </p:nvSpPr>
        <p:spPr>
          <a:xfrm>
            <a:off x="1" y="0"/>
            <a:ext cx="18288000" cy="10287000"/>
          </a:xfrm>
          <a:custGeom>
            <a:rect b="b" l="l" r="r" t="t"/>
            <a:pathLst>
              <a:path extrusionOk="0" h="13716000" w="24384000">
                <a:moveTo>
                  <a:pt x="0" y="0"/>
                </a:moveTo>
                <a:lnTo>
                  <a:pt x="24384000" y="0"/>
                </a:lnTo>
                <a:lnTo>
                  <a:pt x="24384000" y="13716000"/>
                </a:lnTo>
                <a:lnTo>
                  <a:pt x="0" y="13716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08" name="Google Shape;108;p2"/>
          <p:cNvSpPr txBox="1"/>
          <p:nvPr/>
        </p:nvSpPr>
        <p:spPr>
          <a:xfrm>
            <a:off x="6743471" y="441950"/>
            <a:ext cx="4801048" cy="6366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i="0" lang="en-US" sz="4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Team Members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" name="Google Shape;109;p2"/>
          <p:cNvSpPr txBox="1"/>
          <p:nvPr/>
        </p:nvSpPr>
        <p:spPr>
          <a:xfrm>
            <a:off x="6085703" y="9590275"/>
            <a:ext cx="8396249" cy="34785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1" lang="en-US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Acknowledgement: Universitas Teknologi Digital Indonesia (UTDI), Yogyakarta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p2"/>
          <p:cNvSpPr txBox="1"/>
          <p:nvPr/>
        </p:nvSpPr>
        <p:spPr>
          <a:xfrm>
            <a:off x="7047071" y="4560046"/>
            <a:ext cx="4193848" cy="4942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Nurul Layli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2001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99"/>
              <a:buFont typeface="Arial"/>
              <a:buNone/>
            </a:pPr>
            <a:r>
              <a:rPr b="1" i="1" lang="en-US" sz="1399" u="none" cap="none" strike="noStrike">
                <a:solidFill>
                  <a:srgbClr val="555555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Team Leader – System Analyst &amp; PM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p2"/>
          <p:cNvSpPr txBox="1"/>
          <p:nvPr/>
        </p:nvSpPr>
        <p:spPr>
          <a:xfrm>
            <a:off x="7769101" y="8150000"/>
            <a:ext cx="2674649" cy="70994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Arrafi Nur Hafiz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2001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99"/>
              <a:buFont typeface="Arial"/>
              <a:buNone/>
            </a:pPr>
            <a:r>
              <a:rPr b="1" i="1" lang="en-US" sz="1399" u="none" cap="none" strike="noStrike">
                <a:solidFill>
                  <a:srgbClr val="555555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System Architect &amp; Cloud Engineer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" name="Google Shape;112;p2"/>
          <p:cNvSpPr/>
          <p:nvPr/>
        </p:nvSpPr>
        <p:spPr>
          <a:xfrm>
            <a:off x="7844247" y="1711500"/>
            <a:ext cx="2599468" cy="2600420"/>
          </a:xfrm>
          <a:custGeom>
            <a:rect b="b" l="l" r="r" t="t"/>
            <a:pathLst>
              <a:path extrusionOk="0" h="3467227" w="3465957">
                <a:moveTo>
                  <a:pt x="0" y="0"/>
                </a:moveTo>
                <a:lnTo>
                  <a:pt x="3465957" y="0"/>
                </a:lnTo>
                <a:lnTo>
                  <a:pt x="3465957" y="3467227"/>
                </a:lnTo>
                <a:lnTo>
                  <a:pt x="0" y="346722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-4250" r="-4260" t="0"/>
            </a:stretch>
          </a:blipFill>
          <a:ln>
            <a:noFill/>
          </a:ln>
        </p:spPr>
      </p:sp>
      <p:sp>
        <p:nvSpPr>
          <p:cNvPr id="113" name="Google Shape;113;p2"/>
          <p:cNvSpPr/>
          <p:nvPr/>
        </p:nvSpPr>
        <p:spPr>
          <a:xfrm>
            <a:off x="13555399" y="152400"/>
            <a:ext cx="3612737" cy="1300544"/>
          </a:xfrm>
          <a:custGeom>
            <a:rect b="b" l="l" r="r" t="t"/>
            <a:pathLst>
              <a:path extrusionOk="0" h="1734058" w="4816983">
                <a:moveTo>
                  <a:pt x="0" y="0"/>
                </a:moveTo>
                <a:lnTo>
                  <a:pt x="4816983" y="0"/>
                </a:lnTo>
                <a:lnTo>
                  <a:pt x="4816983" y="1734058"/>
                </a:lnTo>
                <a:lnTo>
                  <a:pt x="0" y="173405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-2" l="0" r="0" t="0"/>
            </a:stretch>
          </a:blipFill>
          <a:ln>
            <a:noFill/>
          </a:ln>
        </p:spPr>
      </p:sp>
      <p:pic>
        <p:nvPicPr>
          <p:cNvPr id="114" name="Google Shape;114;p2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844263" y="5302412"/>
            <a:ext cx="2599500" cy="25995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3"/>
          <p:cNvSpPr/>
          <p:nvPr/>
        </p:nvSpPr>
        <p:spPr>
          <a:xfrm>
            <a:off x="28861" y="0"/>
            <a:ext cx="18288000" cy="10287000"/>
          </a:xfrm>
          <a:custGeom>
            <a:rect b="b" l="l" r="r" t="t"/>
            <a:pathLst>
              <a:path extrusionOk="0" h="13716000" w="24384000">
                <a:moveTo>
                  <a:pt x="0" y="0"/>
                </a:moveTo>
                <a:lnTo>
                  <a:pt x="24384000" y="0"/>
                </a:lnTo>
                <a:lnTo>
                  <a:pt x="24384000" y="13716000"/>
                </a:lnTo>
                <a:lnTo>
                  <a:pt x="0" y="13716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24" name="Google Shape;124;p3"/>
          <p:cNvSpPr/>
          <p:nvPr/>
        </p:nvSpPr>
        <p:spPr>
          <a:xfrm>
            <a:off x="13555399" y="152400"/>
            <a:ext cx="3612737" cy="1300544"/>
          </a:xfrm>
          <a:custGeom>
            <a:rect b="b" l="l" r="r" t="t"/>
            <a:pathLst>
              <a:path extrusionOk="0" h="1734058" w="4816983">
                <a:moveTo>
                  <a:pt x="0" y="0"/>
                </a:moveTo>
                <a:lnTo>
                  <a:pt x="4816983" y="0"/>
                </a:lnTo>
                <a:lnTo>
                  <a:pt x="4816983" y="1734058"/>
                </a:lnTo>
                <a:lnTo>
                  <a:pt x="0" y="173405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-2" l="0" r="0" t="0"/>
            </a:stretch>
          </a:blipFill>
          <a:ln>
            <a:noFill/>
          </a:ln>
        </p:spPr>
      </p:sp>
      <p:sp>
        <p:nvSpPr>
          <p:cNvPr id="125" name="Google Shape;125;p3"/>
          <p:cNvSpPr/>
          <p:nvPr/>
        </p:nvSpPr>
        <p:spPr>
          <a:xfrm>
            <a:off x="9172861" y="2971053"/>
            <a:ext cx="6666229" cy="5023747"/>
          </a:xfrm>
          <a:custGeom>
            <a:rect b="b" l="l" r="r" t="t"/>
            <a:pathLst>
              <a:path extrusionOk="0" h="5023747" w="6666229">
                <a:moveTo>
                  <a:pt x="0" y="0"/>
                </a:moveTo>
                <a:lnTo>
                  <a:pt x="6666229" y="0"/>
                </a:lnTo>
                <a:lnTo>
                  <a:pt x="6666229" y="5023747"/>
                </a:lnTo>
                <a:lnTo>
                  <a:pt x="0" y="502374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26" name="Google Shape;126;p3"/>
          <p:cNvSpPr txBox="1"/>
          <p:nvPr/>
        </p:nvSpPr>
        <p:spPr>
          <a:xfrm>
            <a:off x="768448" y="1525353"/>
            <a:ext cx="4801048" cy="6366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i="0" lang="en-US" sz="4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Problem Statement: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Google Shape;127;p3"/>
          <p:cNvSpPr txBox="1"/>
          <p:nvPr/>
        </p:nvSpPr>
        <p:spPr>
          <a:xfrm>
            <a:off x="1088575" y="2403925"/>
            <a:ext cx="6758100" cy="769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1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Indonesia faces a serious paradox: amidst the abundance of wasted food, many people still suffer from malnutrition, meaning that despite the abundant surplus, hidden hunger still exists.</a:t>
            </a:r>
            <a:endParaRPr sz="21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61950" lvl="0" marL="45720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AutoNum type="arabicPeriod"/>
            </a:pPr>
            <a:r>
              <a:rPr lang="en-US" sz="21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Indonesia produces </a:t>
            </a:r>
            <a:r>
              <a:rPr b="1" lang="en-US" sz="21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23-48 million tons </a:t>
            </a:r>
            <a:r>
              <a:rPr lang="en-US" sz="21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Food Loss &amp; Waste per year, causing economic losses </a:t>
            </a:r>
            <a:r>
              <a:rPr b="1" lang="en-US" sz="21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Rp213-551 trillion </a:t>
            </a:r>
            <a:r>
              <a:rPr lang="en-US" sz="21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(BAPPENAS, 2021) is contrary to SDG 2 &amp; SDG 12.</a:t>
            </a:r>
            <a:endParaRPr sz="21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6195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AutoNum type="arabicPeriod"/>
            </a:pPr>
            <a:r>
              <a:rPr lang="en-US" sz="21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The HoReKa sector in </a:t>
            </a:r>
            <a:r>
              <a:rPr lang="en-US" sz="2100">
                <a:solidFill>
                  <a:srgbClr val="22222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Yogyakarta Special Region (DIY)</a:t>
            </a:r>
            <a:r>
              <a:rPr lang="en-US" sz="21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is one of the largest contributors to food surpluses, while orphanages/social institutions are still experiencing "hidden hunger" (chronic malnutrition).</a:t>
            </a:r>
            <a:endParaRPr sz="21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6195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AutoNum type="arabicPeriod"/>
            </a:pPr>
            <a:r>
              <a:rPr lang="en-US" sz="21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Existing redistribution platforms (Surplus Indonesian, Food Cycle, Garda Pangan) still use the system </a:t>
            </a:r>
            <a:r>
              <a:rPr i="1" lang="en-US" sz="21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first-come-first-served</a:t>
            </a:r>
            <a:r>
              <a:rPr lang="en-US" sz="21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, so that distribution is often not on target.</a:t>
            </a:r>
            <a:endParaRPr sz="21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6195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AutoNum type="arabicPeriod"/>
            </a:pPr>
            <a:r>
              <a:rPr b="1" lang="en-US" sz="21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Root of the problem: </a:t>
            </a:r>
            <a:r>
              <a:rPr lang="en-US" sz="21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There is no platform that integrates the Nutritional Adequacy Intake (AKG Permenkes No. 28/2019) into distribution decision-making.</a:t>
            </a:r>
            <a:endParaRPr sz="21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914400" marR="0" rtl="0" algn="just">
              <a:lnSpc>
                <a:spcPct val="119975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2100">
              <a:solidFill>
                <a:srgbClr val="222222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4"/>
          <p:cNvSpPr/>
          <p:nvPr/>
        </p:nvSpPr>
        <p:spPr>
          <a:xfrm>
            <a:off x="3" y="0"/>
            <a:ext cx="18288000" cy="10287000"/>
          </a:xfrm>
          <a:custGeom>
            <a:rect b="b" l="l" r="r" t="t"/>
            <a:pathLst>
              <a:path extrusionOk="0" h="13716000" w="24384000">
                <a:moveTo>
                  <a:pt x="0" y="0"/>
                </a:moveTo>
                <a:lnTo>
                  <a:pt x="24384000" y="0"/>
                </a:lnTo>
                <a:lnTo>
                  <a:pt x="24384000" y="13716000"/>
                </a:lnTo>
                <a:lnTo>
                  <a:pt x="0" y="13716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37" name="Google Shape;137;p4"/>
          <p:cNvSpPr/>
          <p:nvPr/>
        </p:nvSpPr>
        <p:spPr>
          <a:xfrm>
            <a:off x="13555399" y="152400"/>
            <a:ext cx="3612737" cy="1300544"/>
          </a:xfrm>
          <a:custGeom>
            <a:rect b="b" l="l" r="r" t="t"/>
            <a:pathLst>
              <a:path extrusionOk="0" h="1734058" w="4816983">
                <a:moveTo>
                  <a:pt x="0" y="0"/>
                </a:moveTo>
                <a:lnTo>
                  <a:pt x="4816983" y="0"/>
                </a:lnTo>
                <a:lnTo>
                  <a:pt x="4816983" y="1734058"/>
                </a:lnTo>
                <a:lnTo>
                  <a:pt x="0" y="173405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-2" l="0" r="0" t="0"/>
            </a:stretch>
          </a:blipFill>
          <a:ln>
            <a:noFill/>
          </a:ln>
        </p:spPr>
      </p:sp>
      <p:sp>
        <p:nvSpPr>
          <p:cNvPr id="138" name="Google Shape;138;p4"/>
          <p:cNvSpPr txBox="1"/>
          <p:nvPr/>
        </p:nvSpPr>
        <p:spPr>
          <a:xfrm>
            <a:off x="7471475" y="2599100"/>
            <a:ext cx="7904400" cy="5406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One of the most pressing global paradoxes: food is wasted while </a:t>
            </a:r>
            <a:r>
              <a:rPr b="1" lang="en-US" sz="2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820 million</a:t>
            </a:r>
            <a:r>
              <a:rPr lang="en-US" sz="2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people remain undernourished (Chaudhary et al., 2026). </a:t>
            </a:r>
            <a:endParaRPr sz="25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87350" lvl="0" marL="45720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●"/>
            </a:pPr>
            <a:r>
              <a:rPr lang="en-US" sz="2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 Indonesia, this is compounded by </a:t>
            </a:r>
            <a:r>
              <a:rPr b="1" lang="en-US" sz="2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"hidden hunger"</a:t>
            </a:r>
            <a:r>
              <a:rPr lang="en-US" sz="2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micronutrient deficiency affecting children in orphanages and patients in shelters (Weffort &amp; Lamounier, 2024).</a:t>
            </a:r>
            <a:endParaRPr sz="25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8735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●"/>
            </a:pPr>
            <a:r>
              <a:rPr lang="en-US" sz="2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Digital platforms (</a:t>
            </a:r>
            <a:r>
              <a:rPr b="1" lang="en-US" sz="2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CIRCLE, Food Bridge, Zero Waste Chain</a:t>
            </a:r>
            <a:r>
              <a:rPr lang="en-US" sz="2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 connect donors with recipients in real-time, reducing error and accelerating coordination (Ranjbari et al., 2024; Amrutkar et al., 2024).</a:t>
            </a:r>
            <a:endParaRPr sz="25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8735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●"/>
            </a:pPr>
            <a:r>
              <a:rPr lang="en-US" sz="2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Gap: no platform uses </a:t>
            </a:r>
            <a:r>
              <a:rPr b="1" lang="en-US" sz="2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nutrition-based multi-criteria prioritisation</a:t>
            </a:r>
            <a:r>
              <a:rPr lang="en-US" sz="2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this is what </a:t>
            </a:r>
            <a:r>
              <a:rPr b="1" lang="en-US" sz="2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NUTRI-SHARE</a:t>
            </a:r>
            <a:r>
              <a:rPr lang="en-US" sz="2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closes.</a:t>
            </a:r>
            <a:endParaRPr sz="2500">
              <a:solidFill>
                <a:srgbClr val="222222"/>
              </a:solidFill>
            </a:endParaRPr>
          </a:p>
        </p:txBody>
      </p:sp>
      <p:sp>
        <p:nvSpPr>
          <p:cNvPr id="139" name="Google Shape;139;p4"/>
          <p:cNvSpPr txBox="1"/>
          <p:nvPr/>
        </p:nvSpPr>
        <p:spPr>
          <a:xfrm>
            <a:off x="768448" y="1525353"/>
            <a:ext cx="4405951" cy="6366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i="0" lang="en-US" sz="4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Introduction: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0" name="Google Shape;140;p4" title="ChatGPT Image Sep 3, 2026, 06_51_04 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03550" y="3422663"/>
            <a:ext cx="5956252" cy="37594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5"/>
          <p:cNvSpPr/>
          <p:nvPr/>
        </p:nvSpPr>
        <p:spPr>
          <a:xfrm>
            <a:off x="44301" y="0"/>
            <a:ext cx="18288000" cy="10287000"/>
          </a:xfrm>
          <a:custGeom>
            <a:rect b="b" l="l" r="r" t="t"/>
            <a:pathLst>
              <a:path extrusionOk="0" h="13716000" w="24384000">
                <a:moveTo>
                  <a:pt x="0" y="0"/>
                </a:moveTo>
                <a:lnTo>
                  <a:pt x="24384000" y="0"/>
                </a:lnTo>
                <a:lnTo>
                  <a:pt x="24384000" y="13716000"/>
                </a:lnTo>
                <a:lnTo>
                  <a:pt x="0" y="13716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50" name="Google Shape;150;p5"/>
          <p:cNvSpPr txBox="1"/>
          <p:nvPr/>
        </p:nvSpPr>
        <p:spPr>
          <a:xfrm>
            <a:off x="664521" y="2170576"/>
            <a:ext cx="15090300" cy="2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" name="Google Shape;151;p5"/>
          <p:cNvSpPr/>
          <p:nvPr/>
        </p:nvSpPr>
        <p:spPr>
          <a:xfrm>
            <a:off x="13555399" y="152400"/>
            <a:ext cx="3612737" cy="1300544"/>
          </a:xfrm>
          <a:custGeom>
            <a:rect b="b" l="l" r="r" t="t"/>
            <a:pathLst>
              <a:path extrusionOk="0" h="1734058" w="4816983">
                <a:moveTo>
                  <a:pt x="0" y="0"/>
                </a:moveTo>
                <a:lnTo>
                  <a:pt x="4816983" y="0"/>
                </a:lnTo>
                <a:lnTo>
                  <a:pt x="4816983" y="1734058"/>
                </a:lnTo>
                <a:lnTo>
                  <a:pt x="0" y="173405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-2" l="0" r="0" t="0"/>
            </a:stretch>
          </a:blipFill>
          <a:ln>
            <a:noFill/>
          </a:ln>
        </p:spPr>
      </p:sp>
      <p:sp>
        <p:nvSpPr>
          <p:cNvPr id="152" name="Google Shape;152;p5"/>
          <p:cNvSpPr txBox="1"/>
          <p:nvPr/>
        </p:nvSpPr>
        <p:spPr>
          <a:xfrm>
            <a:off x="664521" y="1525353"/>
            <a:ext cx="4405951" cy="6366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i="0" lang="en-US" sz="4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Research Survey: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3" name="Google Shape;153;p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285875" y="2626475"/>
            <a:ext cx="14039650" cy="6642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6"/>
          <p:cNvSpPr/>
          <p:nvPr/>
        </p:nvSpPr>
        <p:spPr>
          <a:xfrm>
            <a:off x="-40024" y="0"/>
            <a:ext cx="18288000" cy="10287000"/>
          </a:xfrm>
          <a:custGeom>
            <a:rect b="b" l="l" r="r" t="t"/>
            <a:pathLst>
              <a:path extrusionOk="0" h="13716000" w="24384000">
                <a:moveTo>
                  <a:pt x="0" y="0"/>
                </a:moveTo>
                <a:lnTo>
                  <a:pt x="24384000" y="0"/>
                </a:lnTo>
                <a:lnTo>
                  <a:pt x="24384000" y="13716000"/>
                </a:lnTo>
                <a:lnTo>
                  <a:pt x="0" y="13716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63" name="Google Shape;163;p6"/>
          <p:cNvSpPr/>
          <p:nvPr/>
        </p:nvSpPr>
        <p:spPr>
          <a:xfrm>
            <a:off x="13555399" y="152400"/>
            <a:ext cx="3612737" cy="1300544"/>
          </a:xfrm>
          <a:custGeom>
            <a:rect b="b" l="l" r="r" t="t"/>
            <a:pathLst>
              <a:path extrusionOk="0" h="1734058" w="4816983">
                <a:moveTo>
                  <a:pt x="0" y="0"/>
                </a:moveTo>
                <a:lnTo>
                  <a:pt x="4816983" y="0"/>
                </a:lnTo>
                <a:lnTo>
                  <a:pt x="4816983" y="1734058"/>
                </a:lnTo>
                <a:lnTo>
                  <a:pt x="0" y="173405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-2" l="0" r="0" t="0"/>
            </a:stretch>
          </a:blipFill>
          <a:ln>
            <a:noFill/>
          </a:ln>
        </p:spPr>
      </p:sp>
      <p:sp>
        <p:nvSpPr>
          <p:cNvPr id="164" name="Google Shape;164;p6"/>
          <p:cNvSpPr/>
          <p:nvPr/>
        </p:nvSpPr>
        <p:spPr>
          <a:xfrm>
            <a:off x="8702440" y="3683636"/>
            <a:ext cx="7629409" cy="4595690"/>
          </a:xfrm>
          <a:custGeom>
            <a:rect b="b" l="l" r="r" t="t"/>
            <a:pathLst>
              <a:path extrusionOk="0" h="4595690" w="7629409">
                <a:moveTo>
                  <a:pt x="0" y="0"/>
                </a:moveTo>
                <a:lnTo>
                  <a:pt x="7629408" y="0"/>
                </a:lnTo>
                <a:lnTo>
                  <a:pt x="7629408" y="4595690"/>
                </a:lnTo>
                <a:lnTo>
                  <a:pt x="0" y="459569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65" name="Google Shape;165;p6"/>
          <p:cNvSpPr txBox="1"/>
          <p:nvPr/>
        </p:nvSpPr>
        <p:spPr>
          <a:xfrm>
            <a:off x="823000" y="2238150"/>
            <a:ext cx="7439400" cy="747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38100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NUTRI-SHARE: DSS based on nutrition, not just speed or location.</a:t>
            </a:r>
            <a:endParaRPr sz="24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81000" lvl="0" marL="45720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Char char="●"/>
            </a:pPr>
            <a:r>
              <a:rPr b="1" lang="en-US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NUTRI-SHARE</a:t>
            </a:r>
            <a:r>
              <a:rPr lang="en-US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a web-based Decision Support System that prioritizes nutritional impact, not first come first served.</a:t>
            </a:r>
            <a:endParaRPr sz="24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8100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Char char="●"/>
            </a:pPr>
            <a:r>
              <a:rPr b="1" lang="en-US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Hybrid Entropy-TOPSIS</a:t>
            </a:r>
            <a:r>
              <a:rPr lang="en-US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Shannon Entropy considers 5 criteria (nutritional density, health urgency, food suitability, location distance, aid history); TOPSIS ranks recipients objectively &amp; transparently.</a:t>
            </a:r>
            <a:endParaRPr sz="24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8100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Char char="●"/>
            </a:pPr>
            <a:r>
              <a:rPr b="1" lang="en-US" sz="2400">
                <a:solidFill>
                  <a:schemeClr val="dk1"/>
                </a:solidFill>
                <a:highlight>
                  <a:schemeClr val="lt2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AKG Integration</a:t>
            </a:r>
            <a:r>
              <a:rPr lang="en-US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each recipient entity is profiled according to Minister of Health Regulation No. 28/2019 to </a:t>
            </a:r>
            <a:r>
              <a:rPr lang="en-US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measure nutritional</a:t>
            </a:r>
            <a:r>
              <a:rPr i="1" lang="en-US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gap</a:t>
            </a:r>
            <a:r>
              <a:rPr lang="en-US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.</a:t>
            </a:r>
            <a:endParaRPr sz="24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8100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Char char="●"/>
            </a:pPr>
            <a:r>
              <a:rPr b="1" lang="en-US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Distribution mechanism</a:t>
            </a:r>
            <a:r>
              <a:rPr lang="en-US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priority score is calculated automatically when donations come in, notifications are sent to the top ranking recipients, with the </a:t>
            </a:r>
            <a:r>
              <a:rPr lang="en-US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system fallback to</a:t>
            </a:r>
            <a:r>
              <a:rPr lang="en-US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the next recipient if not responded to.</a:t>
            </a:r>
            <a:endParaRPr sz="24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914400" marR="0" rtl="0" algn="just">
              <a:lnSpc>
                <a:spcPct val="11999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166" name="Google Shape;166;p6"/>
          <p:cNvSpPr txBox="1"/>
          <p:nvPr/>
        </p:nvSpPr>
        <p:spPr>
          <a:xfrm>
            <a:off x="768448" y="1525353"/>
            <a:ext cx="4782150" cy="6366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i="0" lang="en-US" sz="4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Proposed Solution: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7"/>
          <p:cNvSpPr/>
          <p:nvPr/>
        </p:nvSpPr>
        <p:spPr>
          <a:xfrm>
            <a:off x="1" y="0"/>
            <a:ext cx="18288000" cy="10287000"/>
          </a:xfrm>
          <a:custGeom>
            <a:rect b="b" l="l" r="r" t="t"/>
            <a:pathLst>
              <a:path extrusionOk="0" h="13716000" w="24384000">
                <a:moveTo>
                  <a:pt x="0" y="0"/>
                </a:moveTo>
                <a:lnTo>
                  <a:pt x="24384000" y="0"/>
                </a:lnTo>
                <a:lnTo>
                  <a:pt x="24384000" y="13716000"/>
                </a:lnTo>
                <a:lnTo>
                  <a:pt x="0" y="13716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76" name="Google Shape;176;p7"/>
          <p:cNvSpPr/>
          <p:nvPr/>
        </p:nvSpPr>
        <p:spPr>
          <a:xfrm>
            <a:off x="13555399" y="152400"/>
            <a:ext cx="3612737" cy="1300544"/>
          </a:xfrm>
          <a:custGeom>
            <a:rect b="b" l="l" r="r" t="t"/>
            <a:pathLst>
              <a:path extrusionOk="0" h="1734058" w="4816983">
                <a:moveTo>
                  <a:pt x="0" y="0"/>
                </a:moveTo>
                <a:lnTo>
                  <a:pt x="4816983" y="0"/>
                </a:lnTo>
                <a:lnTo>
                  <a:pt x="4816983" y="1734058"/>
                </a:lnTo>
                <a:lnTo>
                  <a:pt x="0" y="173405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-2" l="0" r="0" t="0"/>
            </a:stretch>
          </a:blipFill>
          <a:ln>
            <a:noFill/>
          </a:ln>
        </p:spPr>
      </p:sp>
      <p:sp>
        <p:nvSpPr>
          <p:cNvPr id="177" name="Google Shape;177;p7"/>
          <p:cNvSpPr txBox="1"/>
          <p:nvPr/>
        </p:nvSpPr>
        <p:spPr>
          <a:xfrm>
            <a:off x="768448" y="1515828"/>
            <a:ext cx="7001246" cy="584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Prototype (if applicable):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7"/>
          <p:cNvSpPr txBox="1"/>
          <p:nvPr/>
        </p:nvSpPr>
        <p:spPr>
          <a:xfrm>
            <a:off x="768448" y="2403925"/>
            <a:ext cx="9500000" cy="7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150390" lvl="1" marL="326180" marR="0" rtl="0" algn="just">
              <a:lnSpc>
                <a:spcPct val="120000"/>
              </a:lnSpc>
              <a:spcBef>
                <a:spcPts val="400"/>
              </a:spcBef>
              <a:spcAft>
                <a:spcPts val="1200"/>
              </a:spcAft>
              <a:buClr>
                <a:srgbClr val="222222"/>
              </a:buClr>
              <a:buSzPts val="2100"/>
              <a:buFont typeface="Arial"/>
              <a:buChar char="•"/>
            </a:pPr>
            <a:r>
              <a:rPr sz="2000" b="1">
                <a:latin typeface="Times New Roman"/>
              </a:rPr>
              <a:t>• Multi-Role Web Ecosystem — </a:t>
            </a:r>
            <a:r>
              <a:rPr sz="1800" b="0">
                <a:latin typeface="Times New Roman"/>
              </a:rPr>
              <a:t>Built with FastAPI (backend) and React 19 + Tailwind v4 (frontend), featuring dedicated dashboards for Donors (HoReCa), Recipients (Orphanages/Shelters), and Admins.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>
              <a:spcBef>
                <a:spcPts val="400"/>
              </a:spcBef>
              <a:spcAft>
                <a:spcPts val="1200"/>
              </a:spcAft>
            </a:pPr>
            <a:r>
              <a:rPr sz="2000" b="1">
                <a:latin typeface="Times New Roman"/>
              </a:rPr>
              <a:t>• Intelligent DSS Engine — </a:t>
            </a:r>
            <a:r>
              <a:rPr sz="1800" b="0">
                <a:latin typeface="Times New Roman"/>
              </a:rPr>
              <a:t>Automated Hybrid Entropy-TOPSIS ranking engine integrating AKG (Permenkes No. 28/2019) standards to evaluate 5 dynamic criteria in real time.</a:t>
            </a:r>
          </a:p>
          <a:p>
            <a:pPr>
              <a:spcBef>
                <a:spcPts val="400"/>
              </a:spcBef>
              <a:spcAft>
                <a:spcPts val="1200"/>
              </a:spcAft>
            </a:pPr>
            <a:r>
              <a:rPr sz="2000" b="1">
                <a:latin typeface="Times New Roman"/>
              </a:rPr>
              <a:t>• End-to-End Operational Flow — </a:t>
            </a:r>
            <a:r>
              <a:rPr sz="1800" b="0">
                <a:latin typeface="Times New Roman"/>
              </a:rPr>
              <a:t>Automated priority notification with fallback mechanism, interactive Leaflet delivery route visualization, and transparent social impact tracking.</a:t>
            </a:r>
          </a:p>
        </p:txBody>
      </p:sp>
      <p:pic>
        <p:nvPicPr>
          <p:cNvPr id="179" name="Google Shape;179;p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 rot="335548">
            <a:off x="13453575" y="1852700"/>
            <a:ext cx="3816375" cy="7778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0" name="Google Shape;180;p7"/>
          <p:cNvPicPr preferRelativeResize="0"/>
          <p:nvPr/>
        </p:nvPicPr>
        <p:blipFill>
          <a:blip r:embed="rId6">
            <a:alphaModFix amt="90000"/>
          </a:blip>
          <a:stretch>
            <a:fillRect/>
          </a:stretch>
        </p:blipFill>
        <p:spPr>
          <a:xfrm rot="-266860">
            <a:off x="10941401" y="1852699"/>
            <a:ext cx="3816375" cy="77785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8"/>
          <p:cNvSpPr/>
          <p:nvPr/>
        </p:nvSpPr>
        <p:spPr>
          <a:xfrm>
            <a:off x="0" y="0"/>
            <a:ext cx="18288000" cy="10287000"/>
          </a:xfrm>
          <a:custGeom>
            <a:rect b="b" l="l" r="r" t="t"/>
            <a:pathLst>
              <a:path extrusionOk="0" h="13716000" w="24384000">
                <a:moveTo>
                  <a:pt x="0" y="0"/>
                </a:moveTo>
                <a:lnTo>
                  <a:pt x="24384000" y="0"/>
                </a:lnTo>
                <a:lnTo>
                  <a:pt x="24384000" y="13716000"/>
                </a:lnTo>
                <a:lnTo>
                  <a:pt x="0" y="13716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90" name="Google Shape;190;p8"/>
          <p:cNvSpPr/>
          <p:nvPr/>
        </p:nvSpPr>
        <p:spPr>
          <a:xfrm>
            <a:off x="13555399" y="152400"/>
            <a:ext cx="3612737" cy="1300544"/>
          </a:xfrm>
          <a:custGeom>
            <a:rect b="b" l="l" r="r" t="t"/>
            <a:pathLst>
              <a:path extrusionOk="0" h="1734058" w="4816983">
                <a:moveTo>
                  <a:pt x="0" y="0"/>
                </a:moveTo>
                <a:lnTo>
                  <a:pt x="4816983" y="0"/>
                </a:lnTo>
                <a:lnTo>
                  <a:pt x="4816983" y="1734058"/>
                </a:lnTo>
                <a:lnTo>
                  <a:pt x="0" y="173405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-2" l="0" r="0" t="0"/>
            </a:stretch>
          </a:blipFill>
          <a:ln>
            <a:noFill/>
          </a:ln>
        </p:spPr>
      </p:sp>
      <p:sp>
        <p:nvSpPr>
          <p:cNvPr id="191" name="Google Shape;191;p8"/>
          <p:cNvSpPr/>
          <p:nvPr/>
        </p:nvSpPr>
        <p:spPr>
          <a:xfrm>
            <a:off x="10022054" y="1452953"/>
            <a:ext cx="4948945" cy="7699877"/>
          </a:xfrm>
          <a:custGeom>
            <a:rect b="b" l="l" r="r" t="t"/>
            <a:pathLst>
              <a:path extrusionOk="0" h="7699877" w="4948945">
                <a:moveTo>
                  <a:pt x="0" y="0"/>
                </a:moveTo>
                <a:lnTo>
                  <a:pt x="4948945" y="0"/>
                </a:lnTo>
                <a:lnTo>
                  <a:pt x="4948945" y="7699876"/>
                </a:lnTo>
                <a:lnTo>
                  <a:pt x="0" y="769987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-14260"/>
            </a:stretch>
          </a:blipFill>
          <a:ln>
            <a:noFill/>
          </a:ln>
        </p:spPr>
        <p:txBody>
          <a:bodyPr wrap="square"/>
          <a:p>
            <a:pPr>
              <a:spcAft>
                <a:spcPts val="600"/>
              </a:spcAft>
            </a:pPr>
            <a:r>
              <a:rPr sz="2000" b="1">
                <a:latin typeface="Times New Roman"/>
              </a:rPr>
              <a:t>ADVANTAGES:</a:t>
            </a:r>
          </a:p>
          <a:p>
            <a:pPr>
              <a:spcAft>
                <a:spcPts val="800"/>
              </a:spcAft>
            </a:pPr>
            <a:r>
              <a:rPr sz="1700" b="1">
                <a:latin typeface="Times New Roman"/>
              </a:rPr>
              <a:t>  + Nutrition-Driven Fair Allocation: </a:t>
            </a:r>
            <a:r>
              <a:rPr sz="1600">
                <a:latin typeface="Times New Roman"/>
              </a:rPr>
              <a:t>Eliminates unfair First-Come-First-Served distribution using an objective multi-criteria DSS (Entropy-TOPSIS + AKG nutritional standards).</a:t>
            </a:r>
          </a:p>
          <a:p>
            <a:pPr>
              <a:spcAft>
                <a:spcPts val="800"/>
              </a:spcAft>
            </a:pPr>
            <a:r>
              <a:rPr sz="1700" b="1">
                <a:latin typeface="Times New Roman"/>
              </a:rPr>
              <a:t>  + Measurable Socio-Economic &amp; SDG Impact: </a:t>
            </a:r>
            <a:r>
              <a:rPr sz="1600">
                <a:latin typeface="Times New Roman"/>
              </a:rPr>
              <a:t>Directly targets Hidden Hunger and Food Waste reduction (SDG 2, 3, and 12) with verifiable metric reporting.</a:t>
            </a:r>
          </a:p>
          <a:p>
            <a:pPr>
              <a:spcAft>
                <a:spcPts val="800"/>
              </a:spcAft>
            </a:pPr>
            <a:r>
              <a:rPr sz="1700" b="1">
                <a:latin typeface="Times New Roman"/>
              </a:rPr>
              <a:t>  + End-to-End Traceability &amp; Engagement: </a:t>
            </a:r>
            <a:r>
              <a:rPr sz="1600">
                <a:latin typeface="Times New Roman"/>
              </a:rPr>
              <a:t>Real-time interactive routing via Leaflet maps, automated priority fallback, and donor gamification badges to encourage consistent participation.</a:t>
            </a:r>
          </a:p>
          <a:p>
            <a:pPr>
              <a:spcBef>
                <a:spcPts val="1000"/>
              </a:spcBef>
              <a:spcAft>
                <a:spcPts val="600"/>
              </a:spcAft>
            </a:pPr>
            <a:r>
              <a:rPr sz="2000" b="1">
                <a:latin typeface="Times New Roman"/>
              </a:rPr>
              <a:t>DISADVANTAGES &amp; MITIGATION:</a:t>
            </a:r>
          </a:p>
          <a:p>
            <a:pPr>
              <a:spcAft>
                <a:spcPts val="800"/>
              </a:spcAft>
            </a:pPr>
            <a:r>
              <a:rPr sz="1700" b="1">
                <a:latin typeface="Times New Roman"/>
              </a:rPr>
              <a:t>  - HoReCa Operational Dependency: </a:t>
            </a:r>
            <a:r>
              <a:rPr sz="1600">
                <a:latin typeface="Times New Roman"/>
              </a:rPr>
              <a:t>Relies on donor discipline to accurately input surplus food condition, preparation time, and nutritional parameters.</a:t>
            </a:r>
          </a:p>
          <a:p>
            <a:pPr>
              <a:spcAft>
                <a:spcPts val="800"/>
              </a:spcAft>
            </a:pPr>
            <a:r>
              <a:rPr sz="1700" b="1">
                <a:latin typeface="Times New Roman"/>
              </a:rPr>
              <a:t>  - Cold-Chain &amp; Time-Window Constraints: </a:t>
            </a:r>
            <a:r>
              <a:rPr sz="1600">
                <a:latin typeface="Times New Roman"/>
              </a:rPr>
              <a:t>Perishable high-protein cooked food requires rapid courier dispatch within tight safe-consumption windows (2-4 hours).</a:t>
            </a:r>
          </a:p>
        </p:txBody>
      </p:sp>
      <p:sp>
        <p:nvSpPr>
          <p:cNvPr id="192" name="Google Shape;192;p8"/>
          <p:cNvSpPr txBox="1"/>
          <p:nvPr/>
        </p:nvSpPr>
        <p:spPr>
          <a:xfrm>
            <a:off x="768448" y="1515828"/>
            <a:ext cx="70011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Advantages &amp; Disadvan</a:t>
            </a:r>
            <a:r>
              <a:rPr b="1" lang="en-US" sz="3600"/>
              <a:t>tages: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3fb20065abc_0_10"/>
          <p:cNvSpPr/>
          <p:nvPr/>
        </p:nvSpPr>
        <p:spPr>
          <a:xfrm>
            <a:off x="0" y="0"/>
            <a:ext cx="18288000" cy="10287000"/>
          </a:xfrm>
          <a:custGeom>
            <a:rect b="b" l="l" r="r" t="t"/>
            <a:pathLst>
              <a:path extrusionOk="0" h="13716000" w="24384000">
                <a:moveTo>
                  <a:pt x="0" y="0"/>
                </a:moveTo>
                <a:lnTo>
                  <a:pt x="24384000" y="0"/>
                </a:lnTo>
                <a:lnTo>
                  <a:pt x="24384000" y="13716000"/>
                </a:lnTo>
                <a:lnTo>
                  <a:pt x="0" y="13716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99" name="Google Shape;199;g3fb20065abc_0_10"/>
          <p:cNvSpPr txBox="1"/>
          <p:nvPr/>
        </p:nvSpPr>
        <p:spPr>
          <a:xfrm>
            <a:off x="768448" y="1515828"/>
            <a:ext cx="70011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lang="en-US" sz="3600"/>
              <a:t>CONCLUSION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g3fb20065abc_0_10"/>
          <p:cNvSpPr txBox="1"/>
          <p:nvPr/>
        </p:nvSpPr>
        <p:spPr>
          <a:xfrm flipH="1" rot="10800000">
            <a:off x="920850" y="5792620"/>
            <a:ext cx="70011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g3fb20065abc_0_10"/>
          <p:cNvSpPr txBox="1"/>
          <p:nvPr/>
        </p:nvSpPr>
        <p:spPr>
          <a:xfrm>
            <a:off x="768448" y="1515828"/>
            <a:ext cx="70011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g3fb20065abc_0_10"/>
          <p:cNvSpPr txBox="1"/>
          <p:nvPr/>
        </p:nvSpPr>
        <p:spPr>
          <a:xfrm>
            <a:off x="7769550" y="1731225"/>
            <a:ext cx="8701200" cy="6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800">
                <a:solidFill>
                  <a:schemeClr val="dk1"/>
                </a:solidFill>
              </a:rPr>
              <a:t>NUTRI-SHARE transforms surplus food into a measurable social impact through an integrated, data-driven distribution system.</a:t>
            </a:r>
            <a:endParaRPr b="1" sz="1800">
              <a:solidFill>
                <a:schemeClr val="dk1"/>
              </a:solidFill>
            </a:endParaRPr>
          </a:p>
          <a:p>
            <a:pPr indent="-342900" lvl="0" marL="45720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b="1" lang="en-US" sz="1800">
                <a:solidFill>
                  <a:schemeClr val="dk1"/>
                </a:solidFill>
              </a:rPr>
              <a:t>Solves two problems at once:</a:t>
            </a:r>
            <a:r>
              <a:rPr lang="en-US" sz="1800">
                <a:solidFill>
                  <a:schemeClr val="dk1"/>
                </a:solidFill>
              </a:rPr>
              <a:t> reduces food waste while improving access to nutritious food for vulnerable communities.</a:t>
            </a:r>
            <a:endParaRPr sz="1800">
              <a:solidFill>
                <a:schemeClr val="dk1"/>
              </a:solidFill>
            </a:endParaRPr>
          </a:p>
          <a:p>
            <a:pPr indent="-34290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b="1" lang="en-US" sz="1800">
                <a:solidFill>
                  <a:schemeClr val="dk1"/>
                </a:solidFill>
              </a:rPr>
              <a:t>Creates measurable impact:</a:t>
            </a:r>
            <a:r>
              <a:rPr lang="en-US" sz="1800">
                <a:solidFill>
                  <a:schemeClr val="dk1"/>
                </a:solidFill>
              </a:rPr>
              <a:t> more surplus food can be redistributed, food waste is reduced, and more people gain access to nutritious meals.</a:t>
            </a:r>
            <a:endParaRPr sz="1800">
              <a:solidFill>
                <a:schemeClr val="dk1"/>
              </a:solidFill>
            </a:endParaRPr>
          </a:p>
          <a:p>
            <a:pPr indent="-34290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b="1" lang="en-US" sz="1800">
                <a:solidFill>
                  <a:schemeClr val="dk1"/>
                </a:solidFill>
              </a:rPr>
              <a:t>Strengthens collaboration:</a:t>
            </a:r>
            <a:r>
              <a:rPr lang="en-US" sz="1800">
                <a:solidFill>
                  <a:schemeClr val="dk1"/>
                </a:solidFill>
              </a:rPr>
              <a:t> connects hotels, restaurants, government, NGOs, and communities in one integrated distribution ecosystem.</a:t>
            </a:r>
            <a:endParaRPr sz="1800">
              <a:solidFill>
                <a:schemeClr val="dk1"/>
              </a:solidFill>
            </a:endParaRPr>
          </a:p>
          <a:p>
            <a:pPr indent="-34290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b="1" lang="en-US" sz="1800">
                <a:solidFill>
                  <a:schemeClr val="dk1"/>
                </a:solidFill>
              </a:rPr>
              <a:t>Supports sustainable development:</a:t>
            </a:r>
            <a:r>
              <a:rPr lang="en-US" sz="1800">
                <a:solidFill>
                  <a:schemeClr val="dk1"/>
                </a:solidFill>
              </a:rPr>
              <a:t> contributes directly to </a:t>
            </a:r>
            <a:r>
              <a:rPr b="1" lang="en-US" sz="1800">
                <a:solidFill>
                  <a:schemeClr val="dk1"/>
                </a:solidFill>
              </a:rPr>
              <a:t>SDG 2 (Zero Hunger)</a:t>
            </a:r>
            <a:r>
              <a:rPr lang="en-US" sz="1800">
                <a:solidFill>
                  <a:schemeClr val="dk1"/>
                </a:solidFill>
              </a:rPr>
              <a:t>, </a:t>
            </a:r>
            <a:r>
              <a:rPr b="1" lang="en-US" sz="1800">
                <a:solidFill>
                  <a:schemeClr val="dk1"/>
                </a:solidFill>
              </a:rPr>
              <a:t>SDG 3 (Good Health and Well-being)</a:t>
            </a:r>
            <a:r>
              <a:rPr lang="en-US" sz="1800">
                <a:solidFill>
                  <a:schemeClr val="dk1"/>
                </a:solidFill>
              </a:rPr>
              <a:t>, and </a:t>
            </a:r>
            <a:r>
              <a:rPr b="1" lang="en-US" sz="1800">
                <a:solidFill>
                  <a:schemeClr val="dk1"/>
                </a:solidFill>
              </a:rPr>
              <a:t>SDG 12 (Responsible Consumption and Production)</a:t>
            </a:r>
            <a:r>
              <a:rPr lang="en-US" sz="1800">
                <a:solidFill>
                  <a:schemeClr val="dk1"/>
                </a:solidFill>
              </a:rPr>
              <a:t>.</a:t>
            </a:r>
            <a:endParaRPr sz="1800">
              <a:solidFill>
                <a:schemeClr val="dk1"/>
              </a:solidFill>
            </a:endParaRPr>
          </a:p>
          <a:p>
            <a:pPr indent="-34290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b="1" lang="en-US" sz="1800">
                <a:solidFill>
                  <a:schemeClr val="dk1"/>
                </a:solidFill>
              </a:rPr>
              <a:t>Real impact:</a:t>
            </a:r>
            <a:r>
              <a:rPr lang="en-US" sz="1800">
                <a:solidFill>
                  <a:schemeClr val="dk1"/>
                </a:solidFill>
              </a:rPr>
              <a:t> NUTRI-SHARE has the potential to create a sustainable food distribution model that is </a:t>
            </a:r>
            <a:r>
              <a:rPr b="1" lang="en-US" sz="1800">
                <a:solidFill>
                  <a:schemeClr val="dk1"/>
                </a:solidFill>
              </a:rPr>
              <a:t>scalable, transparent, and beneficial for both people and the environment</a:t>
            </a:r>
            <a:r>
              <a:rPr lang="en-US" sz="1800">
                <a:solidFill>
                  <a:schemeClr val="dk1"/>
                </a:solidFill>
              </a:rPr>
              <a:t>.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1800">
              <a:solidFill>
                <a:schemeClr val="dk1"/>
              </a:solidFill>
            </a:endParaRPr>
          </a:p>
          <a:p>
            <a:pPr indent="0" lvl="0" marL="381000" marR="38100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800">
                <a:solidFill>
                  <a:schemeClr val="dk1"/>
                </a:solidFill>
              </a:rPr>
              <a:t>In conclusion, NUTRI-SHARE is not only a food redistribution platform, but a sustainable solution that turns food surplus into nutrition, reduces waste, and creates a measurable positive impact on society.</a:t>
            </a:r>
            <a:endParaRPr b="1" sz="1800">
              <a:solidFill>
                <a:schemeClr val="dk1"/>
              </a:solidFill>
            </a:endParaRPr>
          </a:p>
          <a:p>
            <a:pPr indent="0" lvl="0" marL="0" rtl="0" algn="just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3" name="Google Shape;203;g3fb20065abc_0_10" title="ChatGPT Image Sep 3, 2026, 07_50_22 PM.png"/>
          <p:cNvPicPr preferRelativeResize="0"/>
          <p:nvPr/>
        </p:nvPicPr>
        <p:blipFill rotWithShape="1">
          <a:blip r:embed="rId4">
            <a:alphaModFix/>
          </a:blip>
          <a:srcRect b="0" l="8090" r="8333" t="0"/>
          <a:stretch/>
        </p:blipFill>
        <p:spPr>
          <a:xfrm>
            <a:off x="398725" y="2867500"/>
            <a:ext cx="7235274" cy="57714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9"/>
          <p:cNvSpPr/>
          <p:nvPr/>
        </p:nvSpPr>
        <p:spPr>
          <a:xfrm>
            <a:off x="0" y="0"/>
            <a:ext cx="18288000" cy="10287000"/>
          </a:xfrm>
          <a:custGeom>
            <a:rect b="b" l="l" r="r" t="t"/>
            <a:pathLst>
              <a:path extrusionOk="0" h="13716000" w="24384000">
                <a:moveTo>
                  <a:pt x="0" y="0"/>
                </a:moveTo>
                <a:lnTo>
                  <a:pt x="24384000" y="0"/>
                </a:lnTo>
                <a:lnTo>
                  <a:pt x="24384000" y="13716000"/>
                </a:lnTo>
                <a:lnTo>
                  <a:pt x="0" y="13716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13" name="Google Shape;213;p9"/>
          <p:cNvSpPr/>
          <p:nvPr/>
        </p:nvSpPr>
        <p:spPr>
          <a:xfrm>
            <a:off x="13555399" y="152400"/>
            <a:ext cx="3612737" cy="1300544"/>
          </a:xfrm>
          <a:custGeom>
            <a:rect b="b" l="l" r="r" t="t"/>
            <a:pathLst>
              <a:path extrusionOk="0" h="1734058" w="4816983">
                <a:moveTo>
                  <a:pt x="0" y="0"/>
                </a:moveTo>
                <a:lnTo>
                  <a:pt x="4816983" y="0"/>
                </a:lnTo>
                <a:lnTo>
                  <a:pt x="4816983" y="1734058"/>
                </a:lnTo>
                <a:lnTo>
                  <a:pt x="0" y="173405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-2" l="0" r="0" t="0"/>
            </a:stretch>
          </a:blipFill>
          <a:ln>
            <a:noFill/>
          </a:ln>
        </p:spPr>
      </p:sp>
      <p:sp>
        <p:nvSpPr>
          <p:cNvPr id="214" name="Google Shape;214;p9"/>
          <p:cNvSpPr/>
          <p:nvPr/>
        </p:nvSpPr>
        <p:spPr>
          <a:xfrm>
            <a:off x="768450" y="2100450"/>
            <a:ext cx="6674287" cy="6954572"/>
          </a:xfrm>
          <a:custGeom>
            <a:rect b="b" l="l" r="r" t="t"/>
            <a:pathLst>
              <a:path extrusionOk="0" h="7007125" w="7007125">
                <a:moveTo>
                  <a:pt x="0" y="0"/>
                </a:moveTo>
                <a:lnTo>
                  <a:pt x="7007126" y="0"/>
                </a:lnTo>
                <a:lnTo>
                  <a:pt x="7007126" y="7007125"/>
                </a:lnTo>
                <a:lnTo>
                  <a:pt x="0" y="700712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15" name="Google Shape;215;p9"/>
          <p:cNvSpPr txBox="1"/>
          <p:nvPr/>
        </p:nvSpPr>
        <p:spPr>
          <a:xfrm>
            <a:off x="768448" y="1515828"/>
            <a:ext cx="3540747" cy="584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Conclusion: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9"/>
          <p:cNvSpPr txBox="1"/>
          <p:nvPr/>
        </p:nvSpPr>
        <p:spPr>
          <a:xfrm>
            <a:off x="7906775" y="2081400"/>
            <a:ext cx="7605900" cy="789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38100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NUTRI-SHARE: from mere food rescue to equitable distribution of nutrition.</a:t>
            </a:r>
            <a:endParaRPr sz="24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81000" lvl="0" marL="45720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Char char="●"/>
            </a:pPr>
            <a:r>
              <a:rPr b="1" lang="en-US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New paradigm</a:t>
            </a:r>
            <a:r>
              <a:rPr lang="en-US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— combines AKG standards and Hybrid Entropy-TOPSIS logic into a real-time digital platform, ensuring the highest nutritional value food surplus reaches the most vulnerable recipients.</a:t>
            </a:r>
            <a:endParaRPr sz="24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8100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Char char="●"/>
            </a:pPr>
            <a:r>
              <a:rPr b="1" lang="en-US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Integrated solutions</a:t>
            </a:r>
            <a:r>
              <a:rPr lang="en-US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— addressing the food waste crisis (23-48 million tonnes/year) and</a:t>
            </a:r>
            <a:r>
              <a:rPr i="1" lang="en-US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hidden hunger</a:t>
            </a:r>
            <a:r>
              <a:rPr lang="en-US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at the same time, it is technically mature, measurable, and ready to be implemented.</a:t>
            </a:r>
            <a:endParaRPr sz="24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8100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Char char="●"/>
            </a:pPr>
            <a:r>
              <a:rPr b="1" lang="en-US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 line with SDGs</a:t>
            </a:r>
            <a:r>
              <a:rPr lang="en-US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- support </a:t>
            </a:r>
            <a:r>
              <a:rPr b="1" lang="en-US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SDG 2</a:t>
            </a:r>
            <a:r>
              <a:rPr lang="en-US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(Zero Hunger), </a:t>
            </a:r>
            <a:r>
              <a:rPr b="1" lang="en-US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SDG 3</a:t>
            </a:r>
            <a:r>
              <a:rPr lang="en-US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(Health &amp; Wellness), and</a:t>
            </a:r>
            <a:r>
              <a:rPr b="1" lang="en-US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SDG 12</a:t>
            </a:r>
            <a:r>
              <a:rPr lang="en-US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(Responsible Consumption &amp; Production).</a:t>
            </a:r>
            <a:endParaRPr sz="24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8100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Char char="●"/>
            </a:pPr>
            <a:r>
              <a:rPr b="1" lang="en-US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Scale-up potential</a:t>
            </a:r>
            <a:r>
              <a:rPr lang="en-US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— through the PKM-PI/PKM-PM scheme, government &amp; NGO partnerships, has the potential to become a national model for data and nutrition-based food distribution.</a:t>
            </a:r>
            <a:endParaRPr sz="24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914400" marR="0" rtl="0" algn="just">
              <a:lnSpc>
                <a:spcPct val="120028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222222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10"/>
          <p:cNvSpPr/>
          <p:nvPr/>
        </p:nvSpPr>
        <p:spPr>
          <a:xfrm>
            <a:off x="0" y="0"/>
            <a:ext cx="18288000" cy="10287000"/>
          </a:xfrm>
          <a:custGeom>
            <a:rect b="b" l="l" r="r" t="t"/>
            <a:pathLst>
              <a:path extrusionOk="0" h="13716000" w="24384000">
                <a:moveTo>
                  <a:pt x="0" y="0"/>
                </a:moveTo>
                <a:lnTo>
                  <a:pt x="24384000" y="0"/>
                </a:lnTo>
                <a:lnTo>
                  <a:pt x="24384000" y="13716000"/>
                </a:lnTo>
                <a:lnTo>
                  <a:pt x="0" y="13716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26" name="Google Shape;226;p10"/>
          <p:cNvSpPr txBox="1"/>
          <p:nvPr/>
        </p:nvSpPr>
        <p:spPr>
          <a:xfrm>
            <a:off x="768448" y="1515828"/>
            <a:ext cx="4894955" cy="584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References: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10"/>
          <p:cNvSpPr txBox="1"/>
          <p:nvPr/>
        </p:nvSpPr>
        <p:spPr>
          <a:xfrm>
            <a:off x="768450" y="2100450"/>
            <a:ext cx="16973700" cy="757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180022" lvl="1" marL="360045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222222"/>
              </a:buClr>
              <a:buSzPts val="2300"/>
              <a:buFont typeface="Arial"/>
              <a:buChar char="•"/>
            </a:pPr>
            <a:r>
              <a:rPr b="0" i="0" lang="en-US" sz="2300" u="none" cap="none" strike="noStrike">
                <a:solidFill>
                  <a:srgbClr val="222222"/>
                </a:solidFill>
                <a:latin typeface="Arial"/>
                <a:ea typeface="Arial"/>
                <a:cs typeface="Arial"/>
                <a:sym typeface="Arial"/>
              </a:rPr>
              <a:t>Aini, D.N. et al. (2024). Comparison of TOPSIS and SMARTER Methods in Selecting Delivery Services. IJATIS, 1(1), 30–40. doi: 10.57152/ijatis.v1i1.1139.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80022" lvl="1" marL="360045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222222"/>
              </a:buClr>
              <a:buSzPts val="2300"/>
              <a:buFont typeface="Arial"/>
              <a:buChar char="•"/>
            </a:pPr>
            <a:r>
              <a:rPr b="0" i="0" lang="en-US" sz="2300" u="none" cap="none" strike="noStrike">
                <a:solidFill>
                  <a:srgbClr val="222222"/>
                </a:solidFill>
                <a:latin typeface="Arial"/>
                <a:ea typeface="Arial"/>
                <a:cs typeface="Arial"/>
                <a:sym typeface="Arial"/>
              </a:rPr>
              <a:t>BAPPENAS. (2021). Food Loss and Waste di Indonesia. Jakarta: BAPPENAS.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80022" lvl="1" marL="360045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222222"/>
              </a:buClr>
              <a:buSzPts val="2300"/>
              <a:buFont typeface="Arial"/>
              <a:buChar char="•"/>
            </a:pPr>
            <a:r>
              <a:rPr b="0" i="0" lang="en-US" sz="2300" u="none" cap="none" strike="noStrike">
                <a:solidFill>
                  <a:srgbClr val="222222"/>
                </a:solidFill>
                <a:latin typeface="Arial"/>
                <a:ea typeface="Arial"/>
                <a:cs typeface="Arial"/>
                <a:sym typeface="Arial"/>
              </a:rPr>
              <a:t>Cao, X., Wei, C. and Xie, D. (2021). Evaluation of scale management suitability based on the Entropy-TOPSIS method. Land, 10(4). doi: 10.3390/land10040416.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80022" lvl="1" marL="360045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222222"/>
              </a:buClr>
              <a:buSzPts val="2300"/>
              <a:buFont typeface="Arial"/>
              <a:buChar char="•"/>
            </a:pPr>
            <a:r>
              <a:rPr b="0" i="0" lang="en-US" sz="2300" u="none" cap="none" strike="noStrike">
                <a:solidFill>
                  <a:srgbClr val="222222"/>
                </a:solidFill>
                <a:latin typeface="Arial"/>
                <a:ea typeface="Arial"/>
                <a:cs typeface="Arial"/>
                <a:sym typeface="Arial"/>
              </a:rPr>
              <a:t>Chaudhary, R., Kinkar, B. and Arya, B. (2026). Zero Waste Chain: A Smart Platform for Bridging Food Waste and Food Need. American Journal of Education and Evaluation Studies, 3(01).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80022" lvl="1" marL="360045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222222"/>
              </a:buClr>
              <a:buSzPts val="2300"/>
              <a:buFont typeface="Arial"/>
              <a:buChar char="•"/>
            </a:pPr>
            <a:r>
              <a:rPr b="0" i="0" lang="en-US" sz="2300" u="none" cap="none" strike="noStrike">
                <a:solidFill>
                  <a:srgbClr val="222222"/>
                </a:solidFill>
                <a:latin typeface="Arial"/>
                <a:ea typeface="Arial"/>
                <a:cs typeface="Arial"/>
                <a:sym typeface="Arial"/>
              </a:rPr>
              <a:t>Eitiveni, I. et al. (2025). Analysis of factors influencing use intention of food rescue applications: A case study of Surplus Indonesia. Sustainable Futures, 10. doi: 10.1016/j.sftr.2025.100948.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80022" lvl="1" marL="360045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222222"/>
              </a:buClr>
              <a:buSzPts val="2300"/>
              <a:buFont typeface="Arial"/>
              <a:buChar char="•"/>
            </a:pPr>
            <a:r>
              <a:rPr b="0" i="0" lang="en-US" sz="2300" u="none" cap="none" strike="noStrike">
                <a:solidFill>
                  <a:srgbClr val="222222"/>
                </a:solidFill>
                <a:latin typeface="Arial"/>
                <a:ea typeface="Arial"/>
                <a:cs typeface="Arial"/>
                <a:sym typeface="Arial"/>
              </a:rPr>
              <a:t>Lam, W.S., Lam, W.H. and Lee, P.F. (2026). Evaluation of Financial Risk Management Using Integrated Entropy-Weight TOPSIS Model. Journal of Risk and Financial Management, 19(2). doi: 10.3390/jrfm19020108.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80022" lvl="1" marL="360045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222222"/>
              </a:buClr>
              <a:buSzPts val="2300"/>
              <a:buFont typeface="Arial"/>
              <a:buChar char="•"/>
            </a:pPr>
            <a:r>
              <a:rPr b="0" i="0" lang="en-US" sz="2300" u="none" cap="none" strike="noStrike">
                <a:solidFill>
                  <a:srgbClr val="222222"/>
                </a:solidFill>
                <a:latin typeface="Arial"/>
                <a:ea typeface="Arial"/>
                <a:cs typeface="Arial"/>
                <a:sym typeface="Arial"/>
              </a:rPr>
              <a:t>Ranjbari, M. et al. (2024). Digitally enabled food sharing platforms towards effective waste management in a circular economy. Technovation, 130. doi: 10.1016/j.technovation.2023.102939.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80022" lvl="1" marL="360045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222222"/>
              </a:buClr>
              <a:buSzPts val="2300"/>
              <a:buFont typeface="Arial"/>
              <a:buChar char="•"/>
            </a:pPr>
            <a:r>
              <a:rPr b="0" i="0" lang="en-US" sz="2300" u="none" cap="none" strike="noStrike">
                <a:solidFill>
                  <a:srgbClr val="222222"/>
                </a:solidFill>
                <a:latin typeface="Arial"/>
                <a:ea typeface="Arial"/>
                <a:cs typeface="Arial"/>
                <a:sym typeface="Arial"/>
              </a:rPr>
              <a:t>Tzitiridou-Chatzopoulou, M. et al. (2024). Evaluating Malnutrition Practices Using Entropy-Weight and TOPSIS Method. Children, 11(8). doi: 10.3390/children11080903.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80022" lvl="1" marL="360045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222222"/>
              </a:buClr>
              <a:buSzPts val="2300"/>
              <a:buFont typeface="Arial"/>
              <a:buChar char="•"/>
            </a:pPr>
            <a:r>
              <a:rPr b="0" i="0" lang="en-US" sz="2300" u="none" cap="none" strike="noStrike">
                <a:solidFill>
                  <a:srgbClr val="222222"/>
                </a:solidFill>
                <a:latin typeface="Arial"/>
                <a:ea typeface="Arial"/>
                <a:cs typeface="Arial"/>
                <a:sym typeface="Arial"/>
              </a:rPr>
              <a:t>Weffort, V.R.S. and Lamounier, J.A. (2024). Hidden hunger a narrative review. Jornal de Pediatria, 100, S10–S17. doi: 10.1016/j.jped.2023.08.009.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80022" lvl="1" marL="360045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222222"/>
              </a:buClr>
              <a:buSzPts val="2300"/>
              <a:buFont typeface="Arial"/>
              <a:buChar char="•"/>
            </a:pPr>
            <a:r>
              <a:rPr b="0" i="0" lang="en-US" sz="2300" u="none" cap="none" strike="noStrike">
                <a:solidFill>
                  <a:srgbClr val="222222"/>
                </a:solidFill>
                <a:latin typeface="Arial"/>
                <a:ea typeface="Arial"/>
                <a:cs typeface="Arial"/>
                <a:sym typeface="Arial"/>
              </a:rPr>
              <a:t>Peraturan Menteri Kesehatan No. 28 Tahun 2019 tentang Angka Kecukupan Gizi yang Dianjurkan untuk Masyarakat Indonesia.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" name="Google Shape;228;p10"/>
          <p:cNvSpPr/>
          <p:nvPr/>
        </p:nvSpPr>
        <p:spPr>
          <a:xfrm>
            <a:off x="13555399" y="152400"/>
            <a:ext cx="3612737" cy="1300544"/>
          </a:xfrm>
          <a:custGeom>
            <a:rect b="b" l="l" r="r" t="t"/>
            <a:pathLst>
              <a:path extrusionOk="0" h="1734058" w="4816983">
                <a:moveTo>
                  <a:pt x="0" y="0"/>
                </a:moveTo>
                <a:lnTo>
                  <a:pt x="4816983" y="0"/>
                </a:lnTo>
                <a:lnTo>
                  <a:pt x="4816983" y="1734058"/>
                </a:lnTo>
                <a:lnTo>
                  <a:pt x="0" y="173405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-2" l="0" r="0" t="0"/>
            </a:stretch>
          </a:blipFill>
          <a:ln>
            <a:noFill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11"/>
          <p:cNvSpPr/>
          <p:nvPr/>
        </p:nvSpPr>
        <p:spPr>
          <a:xfrm>
            <a:off x="0" y="0"/>
            <a:ext cx="18288000" cy="10287000"/>
          </a:xfrm>
          <a:custGeom>
            <a:rect b="b" l="l" r="r" t="t"/>
            <a:pathLst>
              <a:path extrusionOk="0" h="13716000" w="24384000">
                <a:moveTo>
                  <a:pt x="0" y="0"/>
                </a:moveTo>
                <a:lnTo>
                  <a:pt x="24384000" y="0"/>
                </a:lnTo>
                <a:lnTo>
                  <a:pt x="24384000" y="13716000"/>
                </a:lnTo>
                <a:lnTo>
                  <a:pt x="0" y="13716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38" name="Google Shape;238;p11"/>
          <p:cNvSpPr txBox="1"/>
          <p:nvPr/>
        </p:nvSpPr>
        <p:spPr>
          <a:xfrm>
            <a:off x="3344904" y="4375204"/>
            <a:ext cx="6606149" cy="156952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999"/>
              <a:buFont typeface="Arial"/>
              <a:buNone/>
            </a:pPr>
            <a:r>
              <a:rPr b="1" i="0" lang="en-US" sz="9999" u="none" cap="none" strike="noStrike">
                <a:solidFill>
                  <a:srgbClr val="00425D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</cp:coreProperties>
</file>